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72" r:id="rId8"/>
    <p:sldId id="262" r:id="rId9"/>
    <p:sldId id="263" r:id="rId10"/>
    <p:sldId id="264" r:id="rId11"/>
    <p:sldId id="265" r:id="rId12"/>
    <p:sldId id="266" r:id="rId13"/>
    <p:sldId id="267" r:id="rId14"/>
    <p:sldId id="268" r:id="rId15"/>
    <p:sldId id="269" r:id="rId16"/>
    <p:sldId id="270" r:id="rId17"/>
    <p:sldId id="271" r:id="rId18"/>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576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1C750D5-5758-45DC-8416-A2A7C6934758}" type="datetimeFigureOut">
              <a:rPr lang="en-IN" smtClean="0"/>
              <a:t>16-07-2026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181B1C9-67A6-4329-99A2-D5B3DF972281}" type="slidenum">
              <a:rPr lang="en-IN" smtClean="0"/>
              <a:t>‹#›</a:t>
            </a:fld>
            <a:endParaRPr lang="en-IN"/>
          </a:p>
        </p:txBody>
      </p:sp>
    </p:spTree>
    <p:extLst>
      <p:ext uri="{BB962C8B-B14F-4D97-AF65-F5344CB8AC3E}">
        <p14:creationId xmlns:p14="http://schemas.microsoft.com/office/powerpoint/2010/main" val="244821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57022" y="665187"/>
            <a:ext cx="11484305" cy="452755"/>
          </a:xfrm>
          <a:prstGeom prst="rect">
            <a:avLst/>
          </a:prstGeom>
        </p:spPr>
        <p:txBody>
          <a:bodyPr wrap="square" lIns="0" tIns="0" rIns="0" bIns="0">
            <a:spAutoFit/>
          </a:bodyPr>
          <a:lstStyle>
            <a:lvl1pPr>
              <a:defRPr sz="2800" b="0" i="0">
                <a:solidFill>
                  <a:srgbClr val="205767"/>
                </a:solidFill>
                <a:latin typeface="Arial MT"/>
                <a:cs typeface="Arial MT"/>
              </a:defRPr>
            </a:lvl1pPr>
          </a:lstStyle>
          <a:p>
            <a:endParaRPr/>
          </a:p>
        </p:txBody>
      </p:sp>
      <p:sp>
        <p:nvSpPr>
          <p:cNvPr id="3" name="Holder 3"/>
          <p:cNvSpPr>
            <a:spLocks noGrp="1"/>
          </p:cNvSpPr>
          <p:nvPr>
            <p:ph type="subTitle" idx="4"/>
          </p:nvPr>
        </p:nvSpPr>
        <p:spPr>
          <a:xfrm>
            <a:off x="1829752" y="3840480"/>
            <a:ext cx="8538845"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75328C8-5A3A-4AEB-9661-9A871D4DD058}" type="datetime1">
              <a:rPr lang="en-US" smtClean="0"/>
              <a:t>7/16/2026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205767"/>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F890F629-7401-47E5-B67F-72E2C6DBA856}" type="datetime1">
              <a:rPr lang="en-US" smtClean="0"/>
              <a:t>7/16/2026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205767"/>
                </a:solidFill>
                <a:latin typeface="Arial MT"/>
                <a:cs typeface="Arial MT"/>
              </a:defRPr>
            </a:lvl1pPr>
          </a:lstStyle>
          <a:p>
            <a:endParaRPr/>
          </a:p>
        </p:txBody>
      </p:sp>
      <p:sp>
        <p:nvSpPr>
          <p:cNvPr id="3" name="Holder 3"/>
          <p:cNvSpPr>
            <a:spLocks noGrp="1"/>
          </p:cNvSpPr>
          <p:nvPr>
            <p:ph sz="half" idx="2"/>
          </p:nvPr>
        </p:nvSpPr>
        <p:spPr>
          <a:xfrm>
            <a:off x="609917" y="1577340"/>
            <a:ext cx="5306282"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2150" y="1577340"/>
            <a:ext cx="5306282"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D21FE09E-79ED-44B4-B129-61D4FE0CDC7F}" type="datetime1">
              <a:rPr lang="en-US" smtClean="0"/>
              <a:t>7/16/2026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205767"/>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D3C51D8-7A21-4CCE-AF2E-71A73B4ACD26}" type="datetime1">
              <a:rPr lang="en-US" smtClean="0"/>
              <a:t>7/16/2026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B2873EAF-CB49-46C3-9F54-F46574737656}" type="datetime1">
              <a:rPr lang="en-US" smtClean="0"/>
              <a:t>7/16/2026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56654" y="625356"/>
            <a:ext cx="7902575" cy="1250950"/>
          </a:xfrm>
          <a:prstGeom prst="rect">
            <a:avLst/>
          </a:prstGeom>
        </p:spPr>
        <p:txBody>
          <a:bodyPr wrap="square" lIns="0" tIns="0" rIns="0" bIns="0">
            <a:spAutoFit/>
          </a:bodyPr>
          <a:lstStyle>
            <a:lvl1pPr>
              <a:defRPr sz="2800" b="0" i="0">
                <a:solidFill>
                  <a:srgbClr val="205767"/>
                </a:solidFill>
                <a:latin typeface="Arial MT"/>
                <a:cs typeface="Arial MT"/>
              </a:defRPr>
            </a:lvl1pPr>
          </a:lstStyle>
          <a:p>
            <a:endParaRPr/>
          </a:p>
        </p:txBody>
      </p:sp>
      <p:sp>
        <p:nvSpPr>
          <p:cNvPr id="3" name="Holder 3"/>
          <p:cNvSpPr>
            <a:spLocks noGrp="1"/>
          </p:cNvSpPr>
          <p:nvPr>
            <p:ph type="body" idx="1"/>
          </p:nvPr>
        </p:nvSpPr>
        <p:spPr>
          <a:xfrm>
            <a:off x="609917" y="1577340"/>
            <a:ext cx="10978515"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0E77D1F7-6CEF-4549-9E3F-B9FF7579BF58}" type="datetime1">
              <a:rPr lang="en-US" smtClean="0"/>
              <a:t>7/16/2026</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dimran2211/FinSpark-hackathon-26" TargetMode="External" /><Relationship Id="rId2" Type="http://schemas.openxmlformats.org/officeDocument/2006/relationships/image" Target="../media/image1.png" /><Relationship Id="rId1" Type="http://schemas.openxmlformats.org/officeDocument/2006/relationships/slideLayout" Target="../slideLayouts/slideLayout1.xml" /><Relationship Id="rId5" Type="http://schemas.openxmlformats.org/officeDocument/2006/relationships/image" Target="../media/image4.png" /><Relationship Id="rId4" Type="http://schemas.openxmlformats.org/officeDocument/2006/relationships/image" Target="../media/image3.jpeg" /></Relationships>
</file>

<file path=ppt/slides/_rels/slide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1.png" /><Relationship Id="rId1" Type="http://schemas.openxmlformats.org/officeDocument/2006/relationships/slideLayout" Target="../slideLayouts/slideLayout1.xml" /><Relationship Id="rId4" Type="http://schemas.openxmlformats.org/officeDocument/2006/relationships/image" Target="../media/image6.jpeg" /></Relationships>
</file>

<file path=ppt/slides/_rels/slide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4.xml" /></Relationships>
</file>

<file path=ppt/slides/_rels/slide15.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1.png" /><Relationship Id="rId1" Type="http://schemas.openxmlformats.org/officeDocument/2006/relationships/slideLayout" Target="../slideLayouts/slideLayout1.xml" /><Relationship Id="rId6" Type="http://schemas.openxmlformats.org/officeDocument/2006/relationships/hyperlink" Target="https://drive.google.com/file/d/1fZtUrf5n8GURmuO8a6Vu5OF_6xLEn6H_/view?usp=drivesdk" TargetMode="External" /><Relationship Id="rId5" Type="http://schemas.openxmlformats.org/officeDocument/2006/relationships/image" Target="../media/image10.jpeg" /><Relationship Id="rId4" Type="http://schemas.openxmlformats.org/officeDocument/2006/relationships/image" Target="../media/image9.png" /></Relationships>
</file>

<file path=ppt/slides/_rels/slide17.xml.rels><?xml version="1.0" encoding="UTF-8" standalone="yes"?>
<Relationships xmlns="http://schemas.openxmlformats.org/package/2006/relationships"><Relationship Id="rId3" Type="http://schemas.openxmlformats.org/officeDocument/2006/relationships/hyperlink" Target="mailto:vaishnavijha2627@gmail.com" TargetMode="External" /><Relationship Id="rId2" Type="http://schemas.openxmlformats.org/officeDocument/2006/relationships/image" Target="../media/image1.png" /><Relationship Id="rId1" Type="http://schemas.openxmlformats.org/officeDocument/2006/relationships/slideLayout" Target="../slideLayouts/slideLayout1.xml" /><Relationship Id="rId4" Type="http://schemas.openxmlformats.org/officeDocument/2006/relationships/hyperlink" Target="https://github.com/mdimran2211/FinSpark-hackathon-26" TargetMode="External" /></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48000" y="1600200"/>
            <a:ext cx="4724400" cy="1419043"/>
          </a:xfrm>
          <a:prstGeom prst="rect">
            <a:avLst/>
          </a:prstGeom>
        </p:spPr>
        <p:txBody>
          <a:bodyPr vert="horz" wrap="square" lIns="0" tIns="67310" rIns="0" bIns="0" rtlCol="0">
            <a:spAutoFit/>
          </a:bodyPr>
          <a:lstStyle/>
          <a:p>
            <a:pPr marL="12700" marR="5080" indent="297180">
              <a:lnSpc>
                <a:spcPts val="3460"/>
              </a:lnSpc>
              <a:spcBef>
                <a:spcPts val="530"/>
              </a:spcBef>
            </a:pPr>
            <a:r>
              <a:rPr lang="en-IN" sz="4000" err="1"/>
              <a:t>QuantumShield</a:t>
            </a:r>
            <a:r>
              <a:rPr lang="en-IN" sz="4000"/>
              <a:t> AI</a:t>
            </a:r>
            <a:br>
              <a:rPr lang="en-IN" sz="4000"/>
            </a:br>
            <a:br>
              <a:rPr lang="en-IN" sz="4000"/>
            </a:br>
            <a:endParaRPr sz="4000"/>
          </a:p>
        </p:txBody>
      </p:sp>
      <p:sp>
        <p:nvSpPr>
          <p:cNvPr id="3" name="object 3"/>
          <p:cNvSpPr txBox="1"/>
          <p:nvPr/>
        </p:nvSpPr>
        <p:spPr>
          <a:xfrm>
            <a:off x="685800" y="4171891"/>
            <a:ext cx="8915400" cy="1167499"/>
          </a:xfrm>
          <a:prstGeom prst="rect">
            <a:avLst/>
          </a:prstGeom>
        </p:spPr>
        <p:txBody>
          <a:bodyPr vert="horz" wrap="square" lIns="0" tIns="12700" rIns="0" bIns="0" rtlCol="0">
            <a:spAutoFit/>
          </a:bodyPr>
          <a:lstStyle/>
          <a:p>
            <a:pPr algn="l">
              <a:lnSpc>
                <a:spcPct val="100000"/>
              </a:lnSpc>
              <a:spcBef>
                <a:spcPts val="100"/>
              </a:spcBef>
            </a:pPr>
            <a:r>
              <a:rPr lang="en-US" sz="1600">
                <a:solidFill>
                  <a:srgbClr val="FFD348"/>
                </a:solidFill>
                <a:latin typeface="Arial MT"/>
                <a:cs typeface="Arial MT"/>
              </a:rPr>
              <a:t>  </a:t>
            </a:r>
            <a:r>
              <a:rPr sz="1600">
                <a:solidFill>
                  <a:srgbClr val="FFD348"/>
                </a:solidFill>
                <a:latin typeface="Arial MT"/>
                <a:cs typeface="Arial MT"/>
              </a:rPr>
              <a:t>Your</a:t>
            </a:r>
            <a:r>
              <a:rPr sz="1600" spc="-30">
                <a:solidFill>
                  <a:srgbClr val="FFD348"/>
                </a:solidFill>
                <a:latin typeface="Arial MT"/>
                <a:cs typeface="Arial MT"/>
              </a:rPr>
              <a:t> </a:t>
            </a:r>
            <a:r>
              <a:rPr sz="1600" spc="-10">
                <a:solidFill>
                  <a:srgbClr val="FFD348"/>
                </a:solidFill>
                <a:latin typeface="Arial MT"/>
                <a:cs typeface="Arial MT"/>
              </a:rPr>
              <a:t>Team</a:t>
            </a:r>
            <a:r>
              <a:rPr sz="1600" spc="-25">
                <a:solidFill>
                  <a:srgbClr val="FFD348"/>
                </a:solidFill>
                <a:latin typeface="Arial MT"/>
                <a:cs typeface="Arial MT"/>
              </a:rPr>
              <a:t> </a:t>
            </a:r>
            <a:r>
              <a:rPr sz="1600">
                <a:solidFill>
                  <a:srgbClr val="FFD348"/>
                </a:solidFill>
                <a:latin typeface="Arial MT"/>
                <a:cs typeface="Arial MT"/>
              </a:rPr>
              <a:t>Name</a:t>
            </a:r>
            <a:r>
              <a:rPr sz="1600" spc="-25">
                <a:solidFill>
                  <a:srgbClr val="FFD348"/>
                </a:solidFill>
                <a:latin typeface="Arial MT"/>
                <a:cs typeface="Arial MT"/>
              </a:rPr>
              <a:t> </a:t>
            </a:r>
            <a:r>
              <a:rPr sz="1600" spc="-50">
                <a:solidFill>
                  <a:srgbClr val="FFD348"/>
                </a:solidFill>
                <a:latin typeface="Arial MT"/>
                <a:cs typeface="Arial MT"/>
              </a:rPr>
              <a:t>:</a:t>
            </a:r>
            <a:r>
              <a:rPr lang="en-US" sz="1600" spc="-50">
                <a:solidFill>
                  <a:srgbClr val="FFD348"/>
                </a:solidFill>
                <a:latin typeface="Arial MT"/>
                <a:cs typeface="Arial MT"/>
              </a:rPr>
              <a:t> </a:t>
            </a:r>
            <a:r>
              <a:rPr lang="en-US" sz="1600" spc="-50">
                <a:solidFill>
                  <a:schemeClr val="tx1">
                    <a:lumMod val="95000"/>
                    <a:lumOff val="5000"/>
                  </a:schemeClr>
                </a:solidFill>
                <a:latin typeface="Arial MT"/>
                <a:cs typeface="Arial MT"/>
              </a:rPr>
              <a:t>COINCRAFT</a:t>
            </a:r>
            <a:endParaRPr sz="1600">
              <a:solidFill>
                <a:schemeClr val="tx1">
                  <a:lumMod val="95000"/>
                  <a:lumOff val="5000"/>
                </a:schemeClr>
              </a:solidFill>
              <a:latin typeface="Arial MT"/>
              <a:cs typeface="Arial MT"/>
            </a:endParaRPr>
          </a:p>
          <a:p>
            <a:pPr marL="125730" marR="118110" algn="l">
              <a:lnSpc>
                <a:spcPct val="200000"/>
              </a:lnSpc>
            </a:pPr>
            <a:r>
              <a:rPr sz="1600">
                <a:solidFill>
                  <a:srgbClr val="FFD348"/>
                </a:solidFill>
                <a:latin typeface="Arial MT"/>
                <a:cs typeface="Arial MT"/>
              </a:rPr>
              <a:t>Your</a:t>
            </a:r>
            <a:r>
              <a:rPr sz="1600" spc="25">
                <a:solidFill>
                  <a:srgbClr val="FFD348"/>
                </a:solidFill>
                <a:latin typeface="Arial MT"/>
                <a:cs typeface="Arial MT"/>
              </a:rPr>
              <a:t> </a:t>
            </a:r>
            <a:r>
              <a:rPr sz="1600">
                <a:solidFill>
                  <a:srgbClr val="FFD348"/>
                </a:solidFill>
                <a:latin typeface="Arial MT"/>
                <a:cs typeface="Arial MT"/>
              </a:rPr>
              <a:t>team</a:t>
            </a:r>
            <a:r>
              <a:rPr sz="1600" spc="35">
                <a:solidFill>
                  <a:srgbClr val="FFD348"/>
                </a:solidFill>
                <a:latin typeface="Arial MT"/>
                <a:cs typeface="Arial MT"/>
              </a:rPr>
              <a:t> </a:t>
            </a:r>
            <a:r>
              <a:rPr sz="1600">
                <a:solidFill>
                  <a:srgbClr val="FFD348"/>
                </a:solidFill>
                <a:latin typeface="Arial MT"/>
                <a:cs typeface="Arial MT"/>
              </a:rPr>
              <a:t>bio</a:t>
            </a:r>
            <a:r>
              <a:rPr sz="1600" spc="40">
                <a:solidFill>
                  <a:srgbClr val="FFD348"/>
                </a:solidFill>
                <a:latin typeface="Arial MT"/>
                <a:cs typeface="Arial MT"/>
              </a:rPr>
              <a:t> </a:t>
            </a:r>
            <a:r>
              <a:rPr sz="1600" spc="-50">
                <a:solidFill>
                  <a:srgbClr val="FFD348"/>
                </a:solidFill>
                <a:latin typeface="Arial MT"/>
                <a:cs typeface="Arial MT"/>
              </a:rPr>
              <a:t>:</a:t>
            </a:r>
            <a:r>
              <a:rPr lang="en-US" sz="1600" spc="-50">
                <a:solidFill>
                  <a:schemeClr val="tx1">
                    <a:lumMod val="95000"/>
                    <a:lumOff val="5000"/>
                  </a:schemeClr>
                </a:solidFill>
                <a:latin typeface="Arial MT"/>
                <a:cs typeface="Arial MT"/>
              </a:rPr>
              <a:t>Turning ideas into impactful solutions</a:t>
            </a:r>
          </a:p>
          <a:p>
            <a:pPr marL="125730" marR="118110" algn="l">
              <a:lnSpc>
                <a:spcPct val="200000"/>
              </a:lnSpc>
            </a:pPr>
            <a:r>
              <a:rPr sz="1600">
                <a:solidFill>
                  <a:srgbClr val="FFD348"/>
                </a:solidFill>
                <a:latin typeface="Arial MT"/>
                <a:cs typeface="Arial MT"/>
              </a:rPr>
              <a:t>Date</a:t>
            </a:r>
            <a:r>
              <a:rPr sz="1600" spc="5">
                <a:solidFill>
                  <a:srgbClr val="FFD348"/>
                </a:solidFill>
                <a:latin typeface="Arial MT"/>
                <a:cs typeface="Arial MT"/>
              </a:rPr>
              <a:t> </a:t>
            </a:r>
            <a:r>
              <a:rPr sz="1600" spc="-50">
                <a:solidFill>
                  <a:srgbClr val="FFD348"/>
                </a:solidFill>
                <a:latin typeface="Arial MT"/>
                <a:cs typeface="Arial MT"/>
              </a:rPr>
              <a:t>:</a:t>
            </a:r>
            <a:r>
              <a:rPr lang="en-US" sz="1600" spc="-50">
                <a:solidFill>
                  <a:srgbClr val="FFD348"/>
                </a:solidFill>
                <a:latin typeface="Arial MT"/>
                <a:cs typeface="Arial MT"/>
              </a:rPr>
              <a:t> </a:t>
            </a:r>
            <a:r>
              <a:rPr lang="en-US" sz="1600" spc="-50">
                <a:solidFill>
                  <a:schemeClr val="tx1">
                    <a:lumMod val="95000"/>
                    <a:lumOff val="5000"/>
                  </a:schemeClr>
                </a:solidFill>
                <a:latin typeface="Arial MT"/>
                <a:cs typeface="Arial MT"/>
              </a:rPr>
              <a:t>16/07/2026</a:t>
            </a:r>
            <a:endParaRPr sz="1600">
              <a:solidFill>
                <a:schemeClr val="tx1">
                  <a:lumMod val="95000"/>
                  <a:lumOff val="5000"/>
                </a:schemeClr>
              </a:solidFill>
              <a:latin typeface="Arial MT"/>
              <a:cs typeface="Arial MT"/>
            </a:endParaRPr>
          </a:p>
        </p:txBody>
      </p:sp>
      <p:pic>
        <p:nvPicPr>
          <p:cNvPr id="4" name="object 4"/>
          <p:cNvPicPr/>
          <p:nvPr/>
        </p:nvPicPr>
        <p:blipFill>
          <a:blip r:embed="rId2" cstate="print"/>
          <a:stretch>
            <a:fillRect/>
          </a:stretch>
        </p:blipFill>
        <p:spPr>
          <a:xfrm>
            <a:off x="10262882" y="154800"/>
            <a:ext cx="1755000" cy="205562"/>
          </a:xfrm>
          <a:prstGeom prst="rect">
            <a:avLst/>
          </a:prstGeom>
        </p:spPr>
      </p:pic>
      <p:sp>
        <p:nvSpPr>
          <p:cNvPr id="5" name="TextBox 4">
            <a:extLst>
              <a:ext uri="{FF2B5EF4-FFF2-40B4-BE49-F238E27FC236}">
                <a16:creationId xmlns:a16="http://schemas.microsoft.com/office/drawing/2014/main" id="{7BB0FEEF-D107-1CB2-65AE-2B44E7D4882B}"/>
              </a:ext>
            </a:extLst>
          </p:cNvPr>
          <p:cNvSpPr txBox="1"/>
          <p:nvPr/>
        </p:nvSpPr>
        <p:spPr>
          <a:xfrm>
            <a:off x="2209800" y="2286000"/>
            <a:ext cx="7010400" cy="400110"/>
          </a:xfrm>
          <a:prstGeom prst="rect">
            <a:avLst/>
          </a:prstGeom>
          <a:noFill/>
        </p:spPr>
        <p:txBody>
          <a:bodyPr wrap="square" rtlCol="0">
            <a:spAutoFit/>
          </a:bodyPr>
          <a:lstStyle/>
          <a:p>
            <a:r>
              <a:rPr lang="en-IN" sz="2000">
                <a:solidFill>
                  <a:srgbClr val="205767"/>
                </a:solidFill>
              </a:rPr>
              <a:t>Explainable Insider Threat Detection Platform for Banking</a:t>
            </a:r>
          </a:p>
        </p:txBody>
      </p:sp>
      <p:sp>
        <p:nvSpPr>
          <p:cNvPr id="6" name="TextBox 5">
            <a:extLst>
              <a:ext uri="{FF2B5EF4-FFF2-40B4-BE49-F238E27FC236}">
                <a16:creationId xmlns:a16="http://schemas.microsoft.com/office/drawing/2014/main" id="{3FC3115F-38F3-4821-F4B2-C2EBC0A6396F}"/>
              </a:ext>
            </a:extLst>
          </p:cNvPr>
          <p:cNvSpPr txBox="1"/>
          <p:nvPr/>
        </p:nvSpPr>
        <p:spPr>
          <a:xfrm>
            <a:off x="2590800" y="2819400"/>
            <a:ext cx="6248400" cy="369332"/>
          </a:xfrm>
          <a:prstGeom prst="rect">
            <a:avLst/>
          </a:prstGeom>
          <a:noFill/>
        </p:spPr>
        <p:txBody>
          <a:bodyPr wrap="square" rtlCol="0">
            <a:spAutoFit/>
          </a:bodyPr>
          <a:lstStyle/>
          <a:p>
            <a:r>
              <a:rPr lang="en-IN">
                <a:solidFill>
                  <a:schemeClr val="tx2">
                    <a:lumMod val="60000"/>
                    <a:lumOff val="40000"/>
                  </a:schemeClr>
                </a:solidFill>
              </a:rPr>
              <a:t>Detect. Explain. Protect. Future-Proof Banking Security.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2065">
              <a:lnSpc>
                <a:spcPct val="100000"/>
              </a:lnSpc>
              <a:spcBef>
                <a:spcPts val="100"/>
              </a:spcBef>
            </a:pPr>
            <a:r>
              <a:rPr lang="en-IN"/>
              <a:t> The Challenge</a:t>
            </a:r>
            <a:endParaRPr spc="-10"/>
          </a:p>
        </p:txBody>
      </p:sp>
      <p:pic>
        <p:nvPicPr>
          <p:cNvPr id="4" name="object 4"/>
          <p:cNvPicPr/>
          <p:nvPr/>
        </p:nvPicPr>
        <p:blipFill>
          <a:blip r:embed="rId2" cstate="print"/>
          <a:stretch>
            <a:fillRect/>
          </a:stretch>
        </p:blipFill>
        <p:spPr>
          <a:xfrm>
            <a:off x="10262882" y="154800"/>
            <a:ext cx="1755000" cy="205562"/>
          </a:xfrm>
          <a:prstGeom prst="rect">
            <a:avLst/>
          </a:prstGeom>
        </p:spPr>
      </p:pic>
      <p:sp>
        <p:nvSpPr>
          <p:cNvPr id="5" name="TextBox 4">
            <a:extLst>
              <a:ext uri="{FF2B5EF4-FFF2-40B4-BE49-F238E27FC236}">
                <a16:creationId xmlns:a16="http://schemas.microsoft.com/office/drawing/2014/main" id="{C1DCAABB-FCF4-D1C6-A029-D9F5C8F35B18}"/>
              </a:ext>
            </a:extLst>
          </p:cNvPr>
          <p:cNvSpPr txBox="1"/>
          <p:nvPr/>
        </p:nvSpPr>
        <p:spPr>
          <a:xfrm>
            <a:off x="381000" y="1295400"/>
            <a:ext cx="11430000" cy="2031325"/>
          </a:xfrm>
          <a:prstGeom prst="rect">
            <a:avLst/>
          </a:prstGeom>
          <a:noFill/>
        </p:spPr>
        <p:txBody>
          <a:bodyPr wrap="square" rtlCol="0">
            <a:spAutoFit/>
          </a:bodyPr>
          <a:lstStyle/>
          <a:p>
            <a:r>
              <a:rPr lang="en-IN"/>
              <a:t>Banks depend on privileged users—including administrators, employees, contractors, and third-party vendors to manage critical systems. While these users are essential for daily operations, they also represent one of the largest cybersecurity risks.</a:t>
            </a:r>
          </a:p>
          <a:p>
            <a:pPr algn="l"/>
            <a:r>
              <a:rPr lang="en-IN"/>
              <a:t>Traditional security tools focus primarily on known attack patterns and static rules. They often generate excessive false alarms, fail to recognize unusual user </a:t>
            </a:r>
            <a:r>
              <a:rPr lang="en-IN" err="1"/>
              <a:t>behavior</a:t>
            </a:r>
            <a:r>
              <a:rPr lang="en-IN"/>
              <a:t>, and provide little insight into why an alert was triggered. This delays incident response and increases operational risk.</a:t>
            </a:r>
          </a:p>
          <a:p>
            <a:endParaRPr lang="en-IN"/>
          </a:p>
        </p:txBody>
      </p:sp>
      <p:sp>
        <p:nvSpPr>
          <p:cNvPr id="7" name="TextBox 6">
            <a:extLst>
              <a:ext uri="{FF2B5EF4-FFF2-40B4-BE49-F238E27FC236}">
                <a16:creationId xmlns:a16="http://schemas.microsoft.com/office/drawing/2014/main" id="{9ACF15BD-41F9-A4A9-68BF-D3875D217633}"/>
              </a:ext>
            </a:extLst>
          </p:cNvPr>
          <p:cNvSpPr txBox="1"/>
          <p:nvPr/>
        </p:nvSpPr>
        <p:spPr>
          <a:xfrm>
            <a:off x="457200" y="3304898"/>
            <a:ext cx="11484305" cy="523220"/>
          </a:xfrm>
          <a:prstGeom prst="rect">
            <a:avLst/>
          </a:prstGeom>
          <a:noFill/>
        </p:spPr>
        <p:txBody>
          <a:bodyPr wrap="square" rtlCol="0">
            <a:spAutoFit/>
          </a:bodyPr>
          <a:lstStyle/>
          <a:p>
            <a:r>
              <a:rPr lang="en-IN" sz="2800">
                <a:solidFill>
                  <a:srgbClr val="205767"/>
                </a:solidFill>
              </a:rPr>
              <a:t>Our Goal</a:t>
            </a:r>
            <a:endParaRPr lang="en-IN" sz="2800">
              <a:solidFill>
                <a:srgbClr val="205767"/>
              </a:solidFill>
              <a:latin typeface="Arial MT"/>
              <a:cs typeface="Arial" panose="020B0604020202020204" pitchFamily="34" charset="0"/>
            </a:endParaRPr>
          </a:p>
        </p:txBody>
      </p:sp>
      <p:sp>
        <p:nvSpPr>
          <p:cNvPr id="8" name="TextBox 7">
            <a:extLst>
              <a:ext uri="{FF2B5EF4-FFF2-40B4-BE49-F238E27FC236}">
                <a16:creationId xmlns:a16="http://schemas.microsoft.com/office/drawing/2014/main" id="{30C5CFF7-A7AB-BBB8-50AC-7D33CB4EDAD0}"/>
              </a:ext>
            </a:extLst>
          </p:cNvPr>
          <p:cNvSpPr txBox="1"/>
          <p:nvPr/>
        </p:nvSpPr>
        <p:spPr>
          <a:xfrm>
            <a:off x="457200" y="4038600"/>
            <a:ext cx="11353800" cy="1754326"/>
          </a:xfrm>
          <a:prstGeom prst="rect">
            <a:avLst/>
          </a:prstGeom>
          <a:noFill/>
        </p:spPr>
        <p:txBody>
          <a:bodyPr wrap="square" rtlCol="0">
            <a:spAutoFit/>
          </a:bodyPr>
          <a:lstStyle/>
          <a:p>
            <a:r>
              <a:rPr lang="en-IN"/>
              <a:t>Instead of relying only on static security rules, </a:t>
            </a:r>
            <a:r>
              <a:rPr lang="en-IN" b="1" err="1"/>
              <a:t>QuantumShield</a:t>
            </a:r>
            <a:r>
              <a:rPr lang="en-IN" b="1"/>
              <a:t> AI</a:t>
            </a:r>
            <a:r>
              <a:rPr lang="en-IN"/>
              <a:t> learns how every privileged user normally behaves over time. It continuously compares live activity against this </a:t>
            </a:r>
            <a:r>
              <a:rPr lang="en-IN" err="1"/>
              <a:t>behavioral</a:t>
            </a:r>
            <a:r>
              <a:rPr lang="en-IN"/>
              <a:t> profile, combines rule-based risk scoring with machine learning anomaly detection, explains every security decision using Explainable AI (XAI), automatically responds to high-risk incidents, and secures audit evidence with quantum-resistant cryptography.</a:t>
            </a:r>
          </a:p>
          <a:p>
            <a:r>
              <a:rPr lang="en-IN"/>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90805">
              <a:lnSpc>
                <a:spcPct val="100000"/>
              </a:lnSpc>
              <a:spcBef>
                <a:spcPts val="100"/>
              </a:spcBef>
            </a:pPr>
            <a:r>
              <a:t>Pre-</a:t>
            </a:r>
            <a:r>
              <a:rPr spc="-10"/>
              <a:t>Requisite</a:t>
            </a:r>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4" name="object 4"/>
          <p:cNvSpPr txBox="1"/>
          <p:nvPr/>
        </p:nvSpPr>
        <p:spPr>
          <a:xfrm>
            <a:off x="356654" y="1240815"/>
            <a:ext cx="11484304" cy="936154"/>
          </a:xfrm>
          <a:prstGeom prst="rect">
            <a:avLst/>
          </a:prstGeom>
        </p:spPr>
        <p:txBody>
          <a:bodyPr vert="horz" wrap="square" lIns="0" tIns="12700" rIns="0" bIns="0" rtlCol="0">
            <a:spAutoFit/>
          </a:bodyPr>
          <a:lstStyle/>
          <a:p>
            <a:r>
              <a:rPr lang="en-IN" sz="2000"/>
              <a:t>To enable effective insider threat detection, </a:t>
            </a:r>
            <a:r>
              <a:rPr lang="en-IN" sz="2000" err="1"/>
              <a:t>QuantumShield</a:t>
            </a:r>
            <a:r>
              <a:rPr lang="en-IN" sz="2000"/>
              <a:t> AI requires:</a:t>
            </a:r>
          </a:p>
          <a:p>
            <a:endParaRPr lang="en-IN" sz="2000"/>
          </a:p>
          <a:p>
            <a:endParaRPr lang="en-IN" sz="2000"/>
          </a:p>
        </p:txBody>
      </p:sp>
      <p:sp>
        <p:nvSpPr>
          <p:cNvPr id="6" name="Rectangle 5">
            <a:extLst>
              <a:ext uri="{FF2B5EF4-FFF2-40B4-BE49-F238E27FC236}">
                <a16:creationId xmlns:a16="http://schemas.microsoft.com/office/drawing/2014/main" id="{D46E5CD2-3300-7B2F-87C1-092BC4B68184}"/>
              </a:ext>
            </a:extLst>
          </p:cNvPr>
          <p:cNvSpPr/>
          <p:nvPr/>
        </p:nvSpPr>
        <p:spPr>
          <a:xfrm>
            <a:off x="304800" y="1676400"/>
            <a:ext cx="11658600" cy="502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IN" sz="1800"/>
              <a:t>Authentication with Multi-Factor Authentication (MFA) and Role-Based Access Control (RBAC) </a:t>
            </a:r>
          </a:p>
          <a:p>
            <a:pPr marL="342900" indent="-342900">
              <a:buFont typeface="Arial" panose="020B0604020202020204" pitchFamily="34" charset="0"/>
              <a:buChar char="•"/>
            </a:pPr>
            <a:r>
              <a:rPr lang="en-IN" sz="1800"/>
              <a:t>Access to privileged activity logs such as login records, database operations, administrator commands, and file access events </a:t>
            </a:r>
          </a:p>
          <a:p>
            <a:pPr marL="342900" indent="-342900">
              <a:buFont typeface="Arial" panose="020B0604020202020204" pitchFamily="34" charset="0"/>
              <a:buChar char="•"/>
            </a:pPr>
            <a:r>
              <a:rPr lang="en-IN" sz="1800"/>
              <a:t>Historical employee </a:t>
            </a:r>
            <a:r>
              <a:rPr lang="en-IN" sz="1800" err="1"/>
              <a:t>behavior</a:t>
            </a:r>
            <a:r>
              <a:rPr lang="en-IN" sz="1800"/>
              <a:t> </a:t>
            </a:r>
          </a:p>
          <a:p>
            <a:pPr marL="342900" indent="-342900">
              <a:buFont typeface="Arial" panose="020B0604020202020204" pitchFamily="34" charset="0"/>
              <a:buChar char="•"/>
            </a:pPr>
            <a:r>
              <a:rPr lang="en-IN" sz="1800"/>
              <a:t>PostgreSQL database </a:t>
            </a:r>
          </a:p>
          <a:p>
            <a:pPr marL="342900" indent="-342900">
              <a:buFont typeface="Arial" panose="020B0604020202020204" pitchFamily="34" charset="0"/>
              <a:buChar char="•"/>
            </a:pPr>
            <a:r>
              <a:rPr lang="en-IN" sz="1800"/>
              <a:t>Docker deployment environment </a:t>
            </a:r>
          </a:p>
          <a:p>
            <a:pPr marL="342900" indent="-342900">
              <a:buFont typeface="Arial" panose="020B0604020202020204" pitchFamily="34" charset="0"/>
              <a:buChar char="•"/>
            </a:pPr>
            <a:r>
              <a:rPr lang="en-IN" sz="1800"/>
              <a:t>Python runtime </a:t>
            </a:r>
          </a:p>
          <a:p>
            <a:pPr marL="342900" indent="-342900">
              <a:buFont typeface="Arial" panose="020B0604020202020204" pitchFamily="34" charset="0"/>
              <a:buChar char="•"/>
            </a:pPr>
            <a:r>
              <a:rPr lang="en-IN" sz="1800"/>
              <a:t>Modern web browser for dashboard access </a:t>
            </a:r>
          </a:p>
          <a:p>
            <a:pPr marL="342900" indent="-342900">
              <a:buFont typeface="Arial" panose="020B0604020202020204" pitchFamily="34" charset="0"/>
              <a:buChar char="•"/>
            </a:pPr>
            <a:r>
              <a:rPr lang="en-IN" sz="1800"/>
              <a:t>The platform works with simulated banking activity during demonstrations and can later integrate with enterprise logging systems.</a:t>
            </a:r>
          </a:p>
          <a:p>
            <a:pPr marL="342900" indent="-342900">
              <a:buFont typeface="Arial" panose="020B0604020202020204" pitchFamily="34" charset="0"/>
              <a:buChar char="•"/>
            </a:pPr>
            <a:r>
              <a:rPr lang="en-IN" sz="1800"/>
              <a:t>30 day </a:t>
            </a:r>
            <a:r>
              <a:rPr lang="en-IN" sz="1800" err="1"/>
              <a:t>behavioral</a:t>
            </a:r>
            <a:r>
              <a:rPr lang="en-IN" sz="1800"/>
              <a:t> data is used to train the AI model for each user.</a:t>
            </a:r>
          </a:p>
          <a:p>
            <a:pPr marL="342900" indent="-342900">
              <a:buFont typeface="Arial" panose="020B0604020202020204" pitchFamily="34" charset="0"/>
              <a:buChar char="•"/>
            </a:pPr>
            <a:r>
              <a:rPr lang="en-IN" sz="1800"/>
              <a:t>Isolation forest identifies abnormal </a:t>
            </a:r>
            <a:r>
              <a:rPr lang="en-IN" sz="1800" err="1"/>
              <a:t>behavior</a:t>
            </a:r>
            <a:r>
              <a:rPr lang="en-IN" sz="1800"/>
              <a:t> by comparing real-time activities with each user's normal </a:t>
            </a:r>
            <a:r>
              <a:rPr lang="en-IN" sz="1800" err="1"/>
              <a:t>behavior</a:t>
            </a:r>
            <a:r>
              <a:rPr lang="en-IN" sz="1800"/>
              <a:t> pattern.</a:t>
            </a:r>
          </a:p>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357022" y="723506"/>
            <a:ext cx="3053715" cy="452755"/>
          </a:xfrm>
          <a:prstGeom prst="rect">
            <a:avLst/>
          </a:prstGeom>
        </p:spPr>
        <p:txBody>
          <a:bodyPr vert="horz" wrap="square" lIns="0" tIns="12700" rIns="0" bIns="0" rtlCol="0">
            <a:spAutoFit/>
          </a:bodyPr>
          <a:lstStyle/>
          <a:p>
            <a:pPr marL="12700">
              <a:lnSpc>
                <a:spcPct val="100000"/>
              </a:lnSpc>
              <a:spcBef>
                <a:spcPts val="100"/>
              </a:spcBef>
            </a:pPr>
            <a:r>
              <a:rPr sz="2800">
                <a:solidFill>
                  <a:srgbClr val="205767"/>
                </a:solidFill>
                <a:latin typeface="Arial MT"/>
                <a:cs typeface="Arial MT"/>
              </a:rPr>
              <a:t>Tools</a:t>
            </a:r>
            <a:r>
              <a:rPr sz="2800" spc="-20">
                <a:solidFill>
                  <a:srgbClr val="205767"/>
                </a:solidFill>
                <a:latin typeface="Arial MT"/>
                <a:cs typeface="Arial MT"/>
              </a:rPr>
              <a:t> </a:t>
            </a:r>
            <a:r>
              <a:rPr sz="2800" spc="50">
                <a:solidFill>
                  <a:srgbClr val="205767"/>
                </a:solidFill>
                <a:latin typeface="Arial MT"/>
                <a:cs typeface="Arial MT"/>
              </a:rPr>
              <a:t>or</a:t>
            </a:r>
            <a:r>
              <a:rPr sz="2800" spc="-15">
                <a:solidFill>
                  <a:srgbClr val="205767"/>
                </a:solidFill>
                <a:latin typeface="Arial MT"/>
                <a:cs typeface="Arial MT"/>
              </a:rPr>
              <a:t> </a:t>
            </a:r>
            <a:r>
              <a:rPr sz="2800" spc="-10">
                <a:solidFill>
                  <a:srgbClr val="205767"/>
                </a:solidFill>
                <a:latin typeface="Arial MT"/>
                <a:cs typeface="Arial MT"/>
              </a:rPr>
              <a:t>resources</a:t>
            </a:r>
            <a:endParaRPr sz="2800">
              <a:latin typeface="Arial MT"/>
              <a:cs typeface="Arial MT"/>
            </a:endParaRPr>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13" name="Rectangle: Rounded Corners 12">
            <a:extLst>
              <a:ext uri="{FF2B5EF4-FFF2-40B4-BE49-F238E27FC236}">
                <a16:creationId xmlns:a16="http://schemas.microsoft.com/office/drawing/2014/main" id="{4BA463EC-F1E7-B2CA-FBAC-66081E08AE67}"/>
              </a:ext>
            </a:extLst>
          </p:cNvPr>
          <p:cNvSpPr/>
          <p:nvPr/>
        </p:nvSpPr>
        <p:spPr>
          <a:xfrm>
            <a:off x="4267200" y="914400"/>
            <a:ext cx="7772400" cy="586740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3">
                  <a:lumMod val="60000"/>
                  <a:lumOff val="40000"/>
                </a:schemeClr>
              </a:solidFill>
            </a:endParaRPr>
          </a:p>
        </p:txBody>
      </p:sp>
      <p:graphicFrame>
        <p:nvGraphicFramePr>
          <p:cNvPr id="15" name="Table 14">
            <a:extLst>
              <a:ext uri="{FF2B5EF4-FFF2-40B4-BE49-F238E27FC236}">
                <a16:creationId xmlns:a16="http://schemas.microsoft.com/office/drawing/2014/main" id="{1672C682-AEC8-AE74-33B6-17352F6035DF}"/>
              </a:ext>
            </a:extLst>
          </p:cNvPr>
          <p:cNvGraphicFramePr>
            <a:graphicFrameLocks noGrp="1"/>
          </p:cNvGraphicFramePr>
          <p:nvPr>
            <p:extLst>
              <p:ext uri="{D42A27DB-BD31-4B8C-83A1-F6EECF244321}">
                <p14:modId xmlns:p14="http://schemas.microsoft.com/office/powerpoint/2010/main" val="214141582"/>
              </p:ext>
            </p:extLst>
          </p:nvPr>
        </p:nvGraphicFramePr>
        <p:xfrm>
          <a:off x="4724401" y="990601"/>
          <a:ext cx="7086600" cy="5762796"/>
        </p:xfrm>
        <a:graphic>
          <a:graphicData uri="http://schemas.openxmlformats.org/drawingml/2006/table">
            <a:tbl>
              <a:tblPr/>
              <a:tblGrid>
                <a:gridCol w="2362200">
                  <a:extLst>
                    <a:ext uri="{9D8B030D-6E8A-4147-A177-3AD203B41FA5}">
                      <a16:colId xmlns:a16="http://schemas.microsoft.com/office/drawing/2014/main" val="3505661333"/>
                    </a:ext>
                  </a:extLst>
                </a:gridCol>
                <a:gridCol w="2362200">
                  <a:extLst>
                    <a:ext uri="{9D8B030D-6E8A-4147-A177-3AD203B41FA5}">
                      <a16:colId xmlns:a16="http://schemas.microsoft.com/office/drawing/2014/main" val="1384982265"/>
                    </a:ext>
                  </a:extLst>
                </a:gridCol>
                <a:gridCol w="2362200">
                  <a:extLst>
                    <a:ext uri="{9D8B030D-6E8A-4147-A177-3AD203B41FA5}">
                      <a16:colId xmlns:a16="http://schemas.microsoft.com/office/drawing/2014/main" val="246989627"/>
                    </a:ext>
                  </a:extLst>
                </a:gridCol>
              </a:tblGrid>
              <a:tr h="196185">
                <a:tc>
                  <a:txBody>
                    <a:bodyPr/>
                    <a:lstStyle/>
                    <a:p>
                      <a:pPr>
                        <a:buNone/>
                      </a:pPr>
                      <a:r>
                        <a:rPr lang="en-IN" sz="1050" b="1"/>
                        <a:t>Category</a:t>
                      </a:r>
                      <a:endParaRPr lang="en-IN" sz="1050"/>
                    </a:p>
                  </a:txBody>
                  <a:tcPr marL="38356" marR="38356" marT="19178" marB="19178" anchor="ctr">
                    <a:lnL>
                      <a:noFill/>
                    </a:lnL>
                    <a:lnR>
                      <a:noFill/>
                    </a:lnR>
                    <a:lnT>
                      <a:noFill/>
                    </a:lnT>
                    <a:lnB>
                      <a:noFill/>
                    </a:lnB>
                    <a:noFill/>
                  </a:tcPr>
                </a:tc>
                <a:tc>
                  <a:txBody>
                    <a:bodyPr/>
                    <a:lstStyle/>
                    <a:p>
                      <a:pPr>
                        <a:buNone/>
                      </a:pPr>
                      <a:r>
                        <a:rPr lang="en-IN" sz="1050" b="1"/>
                        <a:t>Tools &amp; Technologies</a:t>
                      </a:r>
                      <a:endParaRPr lang="en-IN" sz="1050"/>
                    </a:p>
                  </a:txBody>
                  <a:tcPr marL="38356" marR="38356" marT="19178" marB="19178" anchor="ctr">
                    <a:lnL>
                      <a:noFill/>
                    </a:lnL>
                    <a:lnR>
                      <a:noFill/>
                    </a:lnR>
                    <a:lnT>
                      <a:noFill/>
                    </a:lnT>
                    <a:lnB>
                      <a:noFill/>
                    </a:lnB>
                    <a:noFill/>
                  </a:tcPr>
                </a:tc>
                <a:tc>
                  <a:txBody>
                    <a:bodyPr/>
                    <a:lstStyle/>
                    <a:p>
                      <a:pPr>
                        <a:buNone/>
                      </a:pPr>
                      <a:r>
                        <a:rPr lang="en-IN" sz="1050" b="1"/>
                        <a:t>Purpose in the Project</a:t>
                      </a:r>
                      <a:endParaRPr lang="en-IN" sz="1050"/>
                    </a:p>
                  </a:txBody>
                  <a:tcPr marL="38356" marR="38356" marT="19178" marB="19178" anchor="ctr">
                    <a:lnL>
                      <a:noFill/>
                    </a:lnL>
                    <a:lnR>
                      <a:noFill/>
                    </a:lnR>
                    <a:lnT>
                      <a:noFill/>
                    </a:lnT>
                    <a:lnB>
                      <a:noFill/>
                    </a:lnB>
                    <a:noFill/>
                  </a:tcPr>
                </a:tc>
                <a:extLst>
                  <a:ext uri="{0D108BD9-81ED-4DB2-BD59-A6C34878D82A}">
                    <a16:rowId xmlns:a16="http://schemas.microsoft.com/office/drawing/2014/main" val="3742226682"/>
                  </a:ext>
                </a:extLst>
              </a:tr>
              <a:tr h="512689">
                <a:tc>
                  <a:txBody>
                    <a:bodyPr/>
                    <a:lstStyle/>
                    <a:p>
                      <a:pPr>
                        <a:buNone/>
                      </a:pPr>
                      <a:r>
                        <a:rPr lang="en-IN" sz="1050" b="1"/>
                        <a:t>Frontend</a:t>
                      </a:r>
                      <a:endParaRPr lang="en-IN" sz="1050"/>
                    </a:p>
                  </a:txBody>
                  <a:tcPr marL="38356" marR="38356" marT="19178" marB="19178" anchor="ctr">
                    <a:lnL>
                      <a:noFill/>
                    </a:lnL>
                    <a:lnR>
                      <a:noFill/>
                    </a:lnR>
                    <a:lnT>
                      <a:noFill/>
                    </a:lnT>
                    <a:lnB>
                      <a:noFill/>
                    </a:lnB>
                    <a:noFill/>
                  </a:tcPr>
                </a:tc>
                <a:tc>
                  <a:txBody>
                    <a:bodyPr/>
                    <a:lstStyle/>
                    <a:p>
                      <a:pPr>
                        <a:buNone/>
                      </a:pPr>
                      <a:r>
                        <a:rPr lang="en-IN" sz="1050" b="1"/>
                        <a:t>React, Next.js</a:t>
                      </a:r>
                      <a:endParaRPr lang="en-IN" sz="1050"/>
                    </a:p>
                  </a:txBody>
                  <a:tcPr marL="38356" marR="38356" marT="19178" marB="19178" anchor="ctr">
                    <a:lnL>
                      <a:noFill/>
                    </a:lnL>
                    <a:lnR>
                      <a:noFill/>
                    </a:lnR>
                    <a:lnT>
                      <a:noFill/>
                    </a:lnT>
                    <a:lnB>
                      <a:noFill/>
                    </a:lnB>
                    <a:noFill/>
                  </a:tcPr>
                </a:tc>
                <a:tc>
                  <a:txBody>
                    <a:bodyPr/>
                    <a:lstStyle/>
                    <a:p>
                      <a:pPr>
                        <a:buNone/>
                      </a:pPr>
                      <a:r>
                        <a:rPr lang="en-IN" sz="1050"/>
                        <a:t>Build an interactive dashboard for monitoring insider threats, alerts, and risk scores.</a:t>
                      </a:r>
                    </a:p>
                  </a:txBody>
                  <a:tcPr marL="38356" marR="38356" marT="19178" marB="19178" anchor="ctr">
                    <a:lnL>
                      <a:noFill/>
                    </a:lnL>
                    <a:lnR>
                      <a:noFill/>
                    </a:lnR>
                    <a:lnT>
                      <a:noFill/>
                    </a:lnT>
                    <a:lnB>
                      <a:noFill/>
                    </a:lnB>
                    <a:noFill/>
                  </a:tcPr>
                </a:tc>
                <a:extLst>
                  <a:ext uri="{0D108BD9-81ED-4DB2-BD59-A6C34878D82A}">
                    <a16:rowId xmlns:a16="http://schemas.microsoft.com/office/drawing/2014/main" val="1098913724"/>
                  </a:ext>
                </a:extLst>
              </a:tr>
              <a:tr h="512689">
                <a:tc>
                  <a:txBody>
                    <a:bodyPr/>
                    <a:lstStyle/>
                    <a:p>
                      <a:pPr>
                        <a:buNone/>
                      </a:pPr>
                      <a:r>
                        <a:rPr lang="en-IN" sz="1050" b="1"/>
                        <a:t>Backend</a:t>
                      </a:r>
                      <a:endParaRPr lang="en-IN" sz="1050"/>
                    </a:p>
                  </a:txBody>
                  <a:tcPr marL="38356" marR="38356" marT="19178" marB="19178" anchor="ctr">
                    <a:lnL>
                      <a:noFill/>
                    </a:lnL>
                    <a:lnR>
                      <a:noFill/>
                    </a:lnR>
                    <a:lnT>
                      <a:noFill/>
                    </a:lnT>
                    <a:lnB>
                      <a:noFill/>
                    </a:lnB>
                    <a:noFill/>
                  </a:tcPr>
                </a:tc>
                <a:tc>
                  <a:txBody>
                    <a:bodyPr/>
                    <a:lstStyle/>
                    <a:p>
                      <a:pPr>
                        <a:buNone/>
                      </a:pPr>
                      <a:r>
                        <a:rPr lang="en-IN" sz="1050" b="1"/>
                        <a:t>Python, FastAPI</a:t>
                      </a:r>
                      <a:endParaRPr lang="en-IN" sz="1050"/>
                    </a:p>
                  </a:txBody>
                  <a:tcPr marL="38356" marR="38356" marT="19178" marB="19178" anchor="ctr">
                    <a:lnL>
                      <a:noFill/>
                    </a:lnL>
                    <a:lnR>
                      <a:noFill/>
                    </a:lnR>
                    <a:lnT>
                      <a:noFill/>
                    </a:lnT>
                    <a:lnB>
                      <a:noFill/>
                    </a:lnB>
                    <a:noFill/>
                  </a:tcPr>
                </a:tc>
                <a:tc>
                  <a:txBody>
                    <a:bodyPr/>
                    <a:lstStyle/>
                    <a:p>
                      <a:pPr>
                        <a:buNone/>
                      </a:pPr>
                      <a:r>
                        <a:rPr lang="en-IN" sz="1050"/>
                        <a:t>Process user activities, manage APIs, and connect the AI engine with the dashboard.</a:t>
                      </a:r>
                    </a:p>
                  </a:txBody>
                  <a:tcPr marL="38356" marR="38356" marT="19178" marB="19178" anchor="ctr">
                    <a:lnL>
                      <a:noFill/>
                    </a:lnL>
                    <a:lnR>
                      <a:noFill/>
                    </a:lnR>
                    <a:lnT>
                      <a:noFill/>
                    </a:lnT>
                    <a:lnB>
                      <a:noFill/>
                    </a:lnB>
                    <a:noFill/>
                  </a:tcPr>
                </a:tc>
                <a:extLst>
                  <a:ext uri="{0D108BD9-81ED-4DB2-BD59-A6C34878D82A}">
                    <a16:rowId xmlns:a16="http://schemas.microsoft.com/office/drawing/2014/main" val="118222928"/>
                  </a:ext>
                </a:extLst>
              </a:tr>
              <a:tr h="463698">
                <a:tc>
                  <a:txBody>
                    <a:bodyPr/>
                    <a:lstStyle/>
                    <a:p>
                      <a:pPr>
                        <a:buNone/>
                      </a:pPr>
                      <a:r>
                        <a:rPr lang="en-IN" sz="1050" b="1"/>
                        <a:t>Database</a:t>
                      </a:r>
                      <a:endParaRPr lang="en-IN" sz="1050"/>
                    </a:p>
                  </a:txBody>
                  <a:tcPr marL="38356" marR="38356" marT="19178" marB="19178" anchor="ctr">
                    <a:lnL>
                      <a:noFill/>
                    </a:lnL>
                    <a:lnR>
                      <a:noFill/>
                    </a:lnR>
                    <a:lnT>
                      <a:noFill/>
                    </a:lnT>
                    <a:lnB>
                      <a:noFill/>
                    </a:lnB>
                    <a:noFill/>
                  </a:tcPr>
                </a:tc>
                <a:tc>
                  <a:txBody>
                    <a:bodyPr/>
                    <a:lstStyle/>
                    <a:p>
                      <a:pPr>
                        <a:buNone/>
                      </a:pPr>
                      <a:r>
                        <a:rPr lang="en-IN" sz="1050" b="1"/>
                        <a:t>PostgreSQL</a:t>
                      </a:r>
                      <a:endParaRPr lang="en-IN" sz="1050"/>
                    </a:p>
                  </a:txBody>
                  <a:tcPr marL="38356" marR="38356" marT="19178" marB="19178" anchor="ctr">
                    <a:lnL>
                      <a:noFill/>
                    </a:lnL>
                    <a:lnR>
                      <a:noFill/>
                    </a:lnR>
                    <a:lnT>
                      <a:noFill/>
                    </a:lnT>
                    <a:lnB>
                      <a:noFill/>
                    </a:lnB>
                    <a:noFill/>
                  </a:tcPr>
                </a:tc>
                <a:tc>
                  <a:txBody>
                    <a:bodyPr/>
                    <a:lstStyle/>
                    <a:p>
                      <a:pPr>
                        <a:buNone/>
                      </a:pPr>
                      <a:r>
                        <a:rPr lang="en-IN" sz="1050"/>
                        <a:t>Store user profiles, activity logs, risk scores, alerts, and audit records securely.</a:t>
                      </a:r>
                    </a:p>
                  </a:txBody>
                  <a:tcPr marL="38356" marR="38356" marT="19178" marB="19178" anchor="ctr">
                    <a:lnL>
                      <a:noFill/>
                    </a:lnL>
                    <a:lnR>
                      <a:noFill/>
                    </a:lnR>
                    <a:lnT>
                      <a:noFill/>
                    </a:lnT>
                    <a:lnB>
                      <a:noFill/>
                    </a:lnB>
                    <a:noFill/>
                  </a:tcPr>
                </a:tc>
                <a:extLst>
                  <a:ext uri="{0D108BD9-81ED-4DB2-BD59-A6C34878D82A}">
                    <a16:rowId xmlns:a16="http://schemas.microsoft.com/office/drawing/2014/main" val="46789743"/>
                  </a:ext>
                </a:extLst>
              </a:tr>
              <a:tr h="377509">
                <a:tc>
                  <a:txBody>
                    <a:bodyPr/>
                    <a:lstStyle/>
                    <a:p>
                      <a:pPr>
                        <a:buNone/>
                      </a:pPr>
                      <a:r>
                        <a:rPr lang="en-IN" sz="1050" b="1"/>
                        <a:t>Machine Learning</a:t>
                      </a:r>
                      <a:endParaRPr lang="en-IN" sz="1050"/>
                    </a:p>
                  </a:txBody>
                  <a:tcPr marL="38356" marR="38356" marT="19178" marB="19178" anchor="ctr">
                    <a:lnL>
                      <a:noFill/>
                    </a:lnL>
                    <a:lnR>
                      <a:noFill/>
                    </a:lnR>
                    <a:lnT>
                      <a:noFill/>
                    </a:lnT>
                    <a:lnB>
                      <a:noFill/>
                    </a:lnB>
                    <a:noFill/>
                  </a:tcPr>
                </a:tc>
                <a:tc>
                  <a:txBody>
                    <a:bodyPr/>
                    <a:lstStyle/>
                    <a:p>
                      <a:pPr>
                        <a:buNone/>
                      </a:pPr>
                      <a:r>
                        <a:rPr lang="en-IN" sz="1050" b="1"/>
                        <a:t>Scikit-learn</a:t>
                      </a:r>
                      <a:endParaRPr lang="en-IN" sz="1050"/>
                    </a:p>
                  </a:txBody>
                  <a:tcPr marL="38356" marR="38356" marT="19178" marB="19178" anchor="ctr">
                    <a:lnL>
                      <a:noFill/>
                    </a:lnL>
                    <a:lnR>
                      <a:noFill/>
                    </a:lnR>
                    <a:lnT>
                      <a:noFill/>
                    </a:lnT>
                    <a:lnB>
                      <a:noFill/>
                    </a:lnB>
                    <a:noFill/>
                  </a:tcPr>
                </a:tc>
                <a:tc>
                  <a:txBody>
                    <a:bodyPr/>
                    <a:lstStyle/>
                    <a:p>
                      <a:pPr>
                        <a:buNone/>
                      </a:pPr>
                      <a:r>
                        <a:rPr lang="en-IN" sz="1050"/>
                        <a:t>Train and evaluate machine learning models for insider threat detection.</a:t>
                      </a:r>
                    </a:p>
                  </a:txBody>
                  <a:tcPr marL="38356" marR="38356" marT="19178" marB="19178" anchor="ctr">
                    <a:lnL>
                      <a:noFill/>
                    </a:lnL>
                    <a:lnR>
                      <a:noFill/>
                    </a:lnR>
                    <a:lnT>
                      <a:noFill/>
                    </a:lnT>
                    <a:lnB>
                      <a:noFill/>
                    </a:lnB>
                    <a:noFill/>
                  </a:tcPr>
                </a:tc>
                <a:extLst>
                  <a:ext uri="{0D108BD9-81ED-4DB2-BD59-A6C34878D82A}">
                    <a16:rowId xmlns:a16="http://schemas.microsoft.com/office/drawing/2014/main" val="3843287455"/>
                  </a:ext>
                </a:extLst>
              </a:tr>
              <a:tr h="670942">
                <a:tc>
                  <a:txBody>
                    <a:bodyPr/>
                    <a:lstStyle/>
                    <a:p>
                      <a:pPr>
                        <a:buNone/>
                      </a:pPr>
                      <a:r>
                        <a:rPr lang="en-IN" sz="1050" b="1"/>
                        <a:t>ML Models</a:t>
                      </a:r>
                      <a:endParaRPr lang="en-IN" sz="1050"/>
                    </a:p>
                  </a:txBody>
                  <a:tcPr marL="38356" marR="38356" marT="19178" marB="19178" anchor="ctr">
                    <a:lnL>
                      <a:noFill/>
                    </a:lnL>
                    <a:lnR>
                      <a:noFill/>
                    </a:lnR>
                    <a:lnT>
                      <a:noFill/>
                    </a:lnT>
                    <a:lnB>
                      <a:noFill/>
                    </a:lnB>
                    <a:noFill/>
                  </a:tcPr>
                </a:tc>
                <a:tc>
                  <a:txBody>
                    <a:bodyPr/>
                    <a:lstStyle/>
                    <a:p>
                      <a:pPr>
                        <a:buNone/>
                      </a:pPr>
                      <a:r>
                        <a:rPr lang="en-IN" sz="1050" b="1"/>
                        <a:t>Random Forest, XGBoost, CatBoost</a:t>
                      </a:r>
                      <a:endParaRPr lang="en-IN" sz="1050"/>
                    </a:p>
                  </a:txBody>
                  <a:tcPr marL="38356" marR="38356" marT="19178" marB="19178" anchor="ctr">
                    <a:lnL>
                      <a:noFill/>
                    </a:lnL>
                    <a:lnR>
                      <a:noFill/>
                    </a:lnR>
                    <a:lnT>
                      <a:noFill/>
                    </a:lnT>
                    <a:lnB>
                      <a:noFill/>
                    </a:lnB>
                    <a:noFill/>
                  </a:tcPr>
                </a:tc>
                <a:tc>
                  <a:txBody>
                    <a:bodyPr/>
                    <a:lstStyle/>
                    <a:p>
                      <a:pPr>
                        <a:buNone/>
                      </a:pPr>
                      <a:r>
                        <a:rPr lang="en-IN" sz="1050"/>
                        <a:t>Classify user activities as normal or suspicious. </a:t>
                      </a:r>
                      <a:r>
                        <a:rPr lang="en-IN" sz="1050" b="1"/>
                        <a:t>CatBoost</a:t>
                      </a:r>
                      <a:r>
                        <a:rPr lang="en-IN" sz="1050"/>
                        <a:t> achieved the best performance and is used as the final prediction model. </a:t>
                      </a:r>
                    </a:p>
                  </a:txBody>
                  <a:tcPr marL="38356" marR="38356" marT="19178" marB="19178" anchor="ctr">
                    <a:lnL>
                      <a:noFill/>
                    </a:lnL>
                    <a:lnR>
                      <a:noFill/>
                    </a:lnR>
                    <a:lnT>
                      <a:noFill/>
                    </a:lnT>
                    <a:lnB>
                      <a:noFill/>
                    </a:lnB>
                    <a:noFill/>
                  </a:tcPr>
                </a:tc>
                <a:extLst>
                  <a:ext uri="{0D108BD9-81ED-4DB2-BD59-A6C34878D82A}">
                    <a16:rowId xmlns:a16="http://schemas.microsoft.com/office/drawing/2014/main" val="3851131565"/>
                  </a:ext>
                </a:extLst>
              </a:tr>
              <a:tr h="354437">
                <a:tc>
                  <a:txBody>
                    <a:bodyPr/>
                    <a:lstStyle/>
                    <a:p>
                      <a:pPr>
                        <a:buNone/>
                      </a:pPr>
                      <a:r>
                        <a:rPr lang="en-IN" sz="1050" b="1"/>
                        <a:t>Data Processing</a:t>
                      </a:r>
                      <a:endParaRPr lang="en-IN" sz="1050"/>
                    </a:p>
                  </a:txBody>
                  <a:tcPr marL="38356" marR="38356" marT="19178" marB="19178" anchor="ctr">
                    <a:lnL>
                      <a:noFill/>
                    </a:lnL>
                    <a:lnR>
                      <a:noFill/>
                    </a:lnR>
                    <a:lnT>
                      <a:noFill/>
                    </a:lnT>
                    <a:lnB>
                      <a:noFill/>
                    </a:lnB>
                    <a:noFill/>
                  </a:tcPr>
                </a:tc>
                <a:tc>
                  <a:txBody>
                    <a:bodyPr/>
                    <a:lstStyle/>
                    <a:p>
                      <a:pPr>
                        <a:buNone/>
                      </a:pPr>
                      <a:r>
                        <a:rPr lang="en-IN" sz="1050" b="1"/>
                        <a:t>Pandas, NumPy</a:t>
                      </a:r>
                      <a:endParaRPr lang="en-IN" sz="1050"/>
                    </a:p>
                  </a:txBody>
                  <a:tcPr marL="38356" marR="38356" marT="19178" marB="19178" anchor="ctr">
                    <a:lnL>
                      <a:noFill/>
                    </a:lnL>
                    <a:lnR>
                      <a:noFill/>
                    </a:lnR>
                    <a:lnT>
                      <a:noFill/>
                    </a:lnT>
                    <a:lnB>
                      <a:noFill/>
                    </a:lnB>
                    <a:noFill/>
                  </a:tcPr>
                </a:tc>
                <a:tc>
                  <a:txBody>
                    <a:bodyPr/>
                    <a:lstStyle/>
                    <a:p>
                      <a:pPr>
                        <a:buNone/>
                      </a:pPr>
                      <a:r>
                        <a:rPr lang="en-IN" sz="1050"/>
                        <a:t>Clean, transform, and prepare activity logs for machine learning. </a:t>
                      </a:r>
                    </a:p>
                  </a:txBody>
                  <a:tcPr marL="38356" marR="38356" marT="19178" marB="19178" anchor="ctr">
                    <a:lnL>
                      <a:noFill/>
                    </a:lnL>
                    <a:lnR>
                      <a:noFill/>
                    </a:lnR>
                    <a:lnT>
                      <a:noFill/>
                    </a:lnT>
                    <a:lnB>
                      <a:noFill/>
                    </a:lnB>
                    <a:noFill/>
                  </a:tcPr>
                </a:tc>
                <a:extLst>
                  <a:ext uri="{0D108BD9-81ED-4DB2-BD59-A6C34878D82A}">
                    <a16:rowId xmlns:a16="http://schemas.microsoft.com/office/drawing/2014/main" val="784904314"/>
                  </a:ext>
                </a:extLst>
              </a:tr>
              <a:tr h="377509">
                <a:tc>
                  <a:txBody>
                    <a:bodyPr/>
                    <a:lstStyle/>
                    <a:p>
                      <a:pPr>
                        <a:buNone/>
                      </a:pPr>
                      <a:r>
                        <a:rPr lang="en-IN" sz="1050" b="1"/>
                        <a:t>Feature Engineering</a:t>
                      </a:r>
                      <a:endParaRPr lang="en-IN" sz="1050"/>
                    </a:p>
                  </a:txBody>
                  <a:tcPr marL="38356" marR="38356" marT="19178" marB="19178" anchor="ctr">
                    <a:lnL>
                      <a:noFill/>
                    </a:lnL>
                    <a:lnR>
                      <a:noFill/>
                    </a:lnR>
                    <a:lnT>
                      <a:noFill/>
                    </a:lnT>
                    <a:lnB>
                      <a:noFill/>
                    </a:lnB>
                    <a:noFill/>
                  </a:tcPr>
                </a:tc>
                <a:tc>
                  <a:txBody>
                    <a:bodyPr/>
                    <a:lstStyle/>
                    <a:p>
                      <a:pPr>
                        <a:buNone/>
                      </a:pPr>
                      <a:r>
                        <a:rPr lang="en-IN" sz="1050" b="1"/>
                        <a:t>Label Encoding, Feature Engineering</a:t>
                      </a:r>
                      <a:endParaRPr lang="en-IN" sz="1050"/>
                    </a:p>
                  </a:txBody>
                  <a:tcPr marL="38356" marR="38356" marT="19178" marB="19178" anchor="ctr">
                    <a:lnL>
                      <a:noFill/>
                    </a:lnL>
                    <a:lnR>
                      <a:noFill/>
                    </a:lnR>
                    <a:lnT>
                      <a:noFill/>
                    </a:lnT>
                    <a:lnB>
                      <a:noFill/>
                    </a:lnB>
                    <a:noFill/>
                  </a:tcPr>
                </a:tc>
                <a:tc>
                  <a:txBody>
                    <a:bodyPr/>
                    <a:lstStyle/>
                    <a:p>
                      <a:pPr>
                        <a:buNone/>
                      </a:pPr>
                      <a:r>
                        <a:rPr lang="en-IN" sz="1050"/>
                        <a:t>Convert user activity into meaningful numerical features for model training. </a:t>
                      </a:r>
                    </a:p>
                  </a:txBody>
                  <a:tcPr marL="38356" marR="38356" marT="19178" marB="19178" anchor="ctr">
                    <a:lnL>
                      <a:noFill/>
                    </a:lnL>
                    <a:lnR>
                      <a:noFill/>
                    </a:lnR>
                    <a:lnT>
                      <a:noFill/>
                    </a:lnT>
                    <a:lnB>
                      <a:noFill/>
                    </a:lnB>
                    <a:noFill/>
                  </a:tcPr>
                </a:tc>
                <a:extLst>
                  <a:ext uri="{0D108BD9-81ED-4DB2-BD59-A6C34878D82A}">
                    <a16:rowId xmlns:a16="http://schemas.microsoft.com/office/drawing/2014/main" val="3130335604"/>
                  </a:ext>
                </a:extLst>
              </a:tr>
              <a:tr h="512689">
                <a:tc>
                  <a:txBody>
                    <a:bodyPr/>
                    <a:lstStyle/>
                    <a:p>
                      <a:pPr>
                        <a:buNone/>
                      </a:pPr>
                      <a:r>
                        <a:rPr lang="en-IN" sz="1050" b="1"/>
                        <a:t>Explainable AI</a:t>
                      </a:r>
                      <a:endParaRPr lang="en-IN" sz="1050"/>
                    </a:p>
                  </a:txBody>
                  <a:tcPr marL="38356" marR="38356" marT="19178" marB="19178" anchor="ctr">
                    <a:lnL>
                      <a:noFill/>
                    </a:lnL>
                    <a:lnR>
                      <a:noFill/>
                    </a:lnR>
                    <a:lnT>
                      <a:noFill/>
                    </a:lnT>
                    <a:lnB>
                      <a:noFill/>
                    </a:lnB>
                    <a:noFill/>
                  </a:tcPr>
                </a:tc>
                <a:tc>
                  <a:txBody>
                    <a:bodyPr/>
                    <a:lstStyle/>
                    <a:p>
                      <a:pPr>
                        <a:buNone/>
                      </a:pPr>
                      <a:r>
                        <a:rPr lang="en-IN" sz="1050" b="1"/>
                        <a:t>SHAP</a:t>
                      </a:r>
                      <a:endParaRPr lang="en-IN" sz="1050"/>
                    </a:p>
                  </a:txBody>
                  <a:tcPr marL="38356" marR="38356" marT="19178" marB="19178" anchor="ctr">
                    <a:lnL>
                      <a:noFill/>
                    </a:lnL>
                    <a:lnR>
                      <a:noFill/>
                    </a:lnR>
                    <a:lnT>
                      <a:noFill/>
                    </a:lnT>
                    <a:lnB>
                      <a:noFill/>
                    </a:lnB>
                    <a:noFill/>
                  </a:tcPr>
                </a:tc>
                <a:tc>
                  <a:txBody>
                    <a:bodyPr/>
                    <a:lstStyle/>
                    <a:p>
                      <a:pPr>
                        <a:buNone/>
                      </a:pPr>
                      <a:r>
                        <a:rPr lang="en-IN" sz="1050"/>
                        <a:t>Explain why the AI classified a user as risky by showing the features that influenced the prediction. </a:t>
                      </a:r>
                    </a:p>
                  </a:txBody>
                  <a:tcPr marL="38356" marR="38356" marT="19178" marB="19178" anchor="ctr">
                    <a:lnL>
                      <a:noFill/>
                    </a:lnL>
                    <a:lnR>
                      <a:noFill/>
                    </a:lnR>
                    <a:lnT>
                      <a:noFill/>
                    </a:lnT>
                    <a:lnB>
                      <a:noFill/>
                    </a:lnB>
                    <a:noFill/>
                  </a:tcPr>
                </a:tc>
                <a:extLst>
                  <a:ext uri="{0D108BD9-81ED-4DB2-BD59-A6C34878D82A}">
                    <a16:rowId xmlns:a16="http://schemas.microsoft.com/office/drawing/2014/main" val="2865240571"/>
                  </a:ext>
                </a:extLst>
              </a:tr>
              <a:tr h="354437">
                <a:tc>
                  <a:txBody>
                    <a:bodyPr/>
                    <a:lstStyle/>
                    <a:p>
                      <a:pPr>
                        <a:buNone/>
                      </a:pPr>
                      <a:r>
                        <a:rPr lang="en-IN" sz="1050" b="1"/>
                        <a:t>Model Storage</a:t>
                      </a:r>
                      <a:endParaRPr lang="en-IN" sz="1050"/>
                    </a:p>
                  </a:txBody>
                  <a:tcPr marL="38356" marR="38356" marT="19178" marB="19178" anchor="ctr">
                    <a:lnL>
                      <a:noFill/>
                    </a:lnL>
                    <a:lnR>
                      <a:noFill/>
                    </a:lnR>
                    <a:lnT>
                      <a:noFill/>
                    </a:lnT>
                    <a:lnB>
                      <a:noFill/>
                    </a:lnB>
                    <a:noFill/>
                  </a:tcPr>
                </a:tc>
                <a:tc>
                  <a:txBody>
                    <a:bodyPr/>
                    <a:lstStyle/>
                    <a:p>
                      <a:pPr>
                        <a:buNone/>
                      </a:pPr>
                      <a:r>
                        <a:rPr lang="en-IN" sz="1050" b="1"/>
                        <a:t>Joblib / Pickle</a:t>
                      </a:r>
                      <a:endParaRPr lang="en-IN" sz="1050"/>
                    </a:p>
                  </a:txBody>
                  <a:tcPr marL="38356" marR="38356" marT="19178" marB="19178" anchor="ctr">
                    <a:lnL>
                      <a:noFill/>
                    </a:lnL>
                    <a:lnR>
                      <a:noFill/>
                    </a:lnR>
                    <a:lnT>
                      <a:noFill/>
                    </a:lnT>
                    <a:lnB>
                      <a:noFill/>
                    </a:lnB>
                    <a:noFill/>
                  </a:tcPr>
                </a:tc>
                <a:tc>
                  <a:txBody>
                    <a:bodyPr/>
                    <a:lstStyle/>
                    <a:p>
                      <a:pPr>
                        <a:buNone/>
                      </a:pPr>
                      <a:r>
                        <a:rPr lang="en-IN" sz="1050"/>
                        <a:t>Save the trained AI model and load it for real-time predictions. </a:t>
                      </a:r>
                    </a:p>
                  </a:txBody>
                  <a:tcPr marL="38356" marR="38356" marT="19178" marB="19178" anchor="ctr">
                    <a:lnL>
                      <a:noFill/>
                    </a:lnL>
                    <a:lnR>
                      <a:noFill/>
                    </a:lnR>
                    <a:lnT>
                      <a:noFill/>
                    </a:lnT>
                    <a:lnB>
                      <a:noFill/>
                    </a:lnB>
                    <a:noFill/>
                  </a:tcPr>
                </a:tc>
                <a:extLst>
                  <a:ext uri="{0D108BD9-81ED-4DB2-BD59-A6C34878D82A}">
                    <a16:rowId xmlns:a16="http://schemas.microsoft.com/office/drawing/2014/main" val="857838412"/>
                  </a:ext>
                </a:extLst>
              </a:tr>
              <a:tr h="512689">
                <a:tc>
                  <a:txBody>
                    <a:bodyPr/>
                    <a:lstStyle/>
                    <a:p>
                      <a:pPr>
                        <a:buNone/>
                      </a:pPr>
                      <a:r>
                        <a:rPr lang="en-IN" sz="1050" b="1"/>
                        <a:t>Visualization</a:t>
                      </a:r>
                      <a:endParaRPr lang="en-IN" sz="1050"/>
                    </a:p>
                  </a:txBody>
                  <a:tcPr marL="38356" marR="38356" marT="19178" marB="19178" anchor="ctr">
                    <a:lnL>
                      <a:noFill/>
                    </a:lnL>
                    <a:lnR>
                      <a:noFill/>
                    </a:lnR>
                    <a:lnT>
                      <a:noFill/>
                    </a:lnT>
                    <a:lnB>
                      <a:noFill/>
                    </a:lnB>
                    <a:noFill/>
                  </a:tcPr>
                </a:tc>
                <a:tc>
                  <a:txBody>
                    <a:bodyPr/>
                    <a:lstStyle/>
                    <a:p>
                      <a:pPr>
                        <a:buNone/>
                      </a:pPr>
                      <a:r>
                        <a:rPr lang="en-IN" sz="1050" b="1"/>
                        <a:t>Matplotlib, Seaborn</a:t>
                      </a:r>
                      <a:endParaRPr lang="en-IN" sz="1050"/>
                    </a:p>
                  </a:txBody>
                  <a:tcPr marL="38356" marR="38356" marT="19178" marB="19178" anchor="ctr">
                    <a:lnL>
                      <a:noFill/>
                    </a:lnL>
                    <a:lnR>
                      <a:noFill/>
                    </a:lnR>
                    <a:lnT>
                      <a:noFill/>
                    </a:lnT>
                    <a:lnB>
                      <a:noFill/>
                    </a:lnB>
                    <a:noFill/>
                  </a:tcPr>
                </a:tc>
                <a:tc>
                  <a:txBody>
                    <a:bodyPr/>
                    <a:lstStyle/>
                    <a:p>
                      <a:pPr>
                        <a:buNone/>
                      </a:pPr>
                      <a:r>
                        <a:rPr lang="en-IN" sz="1050"/>
                        <a:t>Generate feature importance charts, ROC curves, confusion matrices, and SHAP visualizations for model analysis. </a:t>
                      </a:r>
                    </a:p>
                  </a:txBody>
                  <a:tcPr marL="38356" marR="38356" marT="19178" marB="19178" anchor="ctr">
                    <a:lnL>
                      <a:noFill/>
                    </a:lnL>
                    <a:lnR>
                      <a:noFill/>
                    </a:lnR>
                    <a:lnT>
                      <a:noFill/>
                    </a:lnT>
                    <a:lnB>
                      <a:noFill/>
                    </a:lnB>
                    <a:noFill/>
                  </a:tcPr>
                </a:tc>
                <a:extLst>
                  <a:ext uri="{0D108BD9-81ED-4DB2-BD59-A6C34878D82A}">
                    <a16:rowId xmlns:a16="http://schemas.microsoft.com/office/drawing/2014/main" val="2324547632"/>
                  </a:ext>
                </a:extLst>
              </a:tr>
              <a:tr h="354437">
                <a:tc>
                  <a:txBody>
                    <a:bodyPr/>
                    <a:lstStyle/>
                    <a:p>
                      <a:pPr>
                        <a:buNone/>
                      </a:pPr>
                      <a:r>
                        <a:rPr lang="en-IN" sz="1050" b="1"/>
                        <a:t>Authentication &amp; Security</a:t>
                      </a:r>
                      <a:endParaRPr lang="en-IN" sz="1050"/>
                    </a:p>
                  </a:txBody>
                  <a:tcPr marL="38356" marR="38356" marT="19178" marB="19178" anchor="ctr">
                    <a:lnL>
                      <a:noFill/>
                    </a:lnL>
                    <a:lnR>
                      <a:noFill/>
                    </a:lnR>
                    <a:lnT>
                      <a:noFill/>
                    </a:lnT>
                    <a:lnB>
                      <a:noFill/>
                    </a:lnB>
                    <a:noFill/>
                  </a:tcPr>
                </a:tc>
                <a:tc>
                  <a:txBody>
                    <a:bodyPr/>
                    <a:lstStyle/>
                    <a:p>
                      <a:pPr>
                        <a:buNone/>
                      </a:pPr>
                      <a:r>
                        <a:rPr lang="en-IN" sz="1050" b="1"/>
                        <a:t>JWT, MFA, RBAC</a:t>
                      </a:r>
                      <a:endParaRPr lang="en-IN" sz="1050"/>
                    </a:p>
                  </a:txBody>
                  <a:tcPr marL="38356" marR="38356" marT="19178" marB="19178" anchor="ctr">
                    <a:lnL>
                      <a:noFill/>
                    </a:lnL>
                    <a:lnR>
                      <a:noFill/>
                    </a:lnR>
                    <a:lnT>
                      <a:noFill/>
                    </a:lnT>
                    <a:lnB>
                      <a:noFill/>
                    </a:lnB>
                    <a:noFill/>
                  </a:tcPr>
                </a:tc>
                <a:tc>
                  <a:txBody>
                    <a:bodyPr/>
                    <a:lstStyle/>
                    <a:p>
                      <a:pPr>
                        <a:buNone/>
                      </a:pPr>
                      <a:r>
                        <a:rPr lang="en-IN" sz="1050"/>
                        <a:t>Secure user authentication and restrict access based on roles.</a:t>
                      </a:r>
                    </a:p>
                  </a:txBody>
                  <a:tcPr marL="38356" marR="38356" marT="19178" marB="19178" anchor="ctr">
                    <a:lnL>
                      <a:noFill/>
                    </a:lnL>
                    <a:lnR>
                      <a:noFill/>
                    </a:lnR>
                    <a:lnT>
                      <a:noFill/>
                    </a:lnT>
                    <a:lnB>
                      <a:noFill/>
                    </a:lnB>
                    <a:noFill/>
                  </a:tcPr>
                </a:tc>
                <a:extLst>
                  <a:ext uri="{0D108BD9-81ED-4DB2-BD59-A6C34878D82A}">
                    <a16:rowId xmlns:a16="http://schemas.microsoft.com/office/drawing/2014/main" val="2191389776"/>
                  </a:ext>
                </a:extLst>
              </a:tr>
              <a:tr h="512689">
                <a:tc>
                  <a:txBody>
                    <a:bodyPr/>
                    <a:lstStyle/>
                    <a:p>
                      <a:pPr>
                        <a:buNone/>
                      </a:pPr>
                      <a:r>
                        <a:rPr lang="en-IN" sz="1050" b="1"/>
                        <a:t>Deployment</a:t>
                      </a:r>
                      <a:endParaRPr lang="en-IN" sz="1050"/>
                    </a:p>
                  </a:txBody>
                  <a:tcPr marL="38356" marR="38356" marT="19178" marB="19178" anchor="ctr">
                    <a:lnL>
                      <a:noFill/>
                    </a:lnL>
                    <a:lnR>
                      <a:noFill/>
                    </a:lnR>
                    <a:lnT>
                      <a:noFill/>
                    </a:lnT>
                    <a:lnB>
                      <a:noFill/>
                    </a:lnB>
                    <a:noFill/>
                  </a:tcPr>
                </a:tc>
                <a:tc>
                  <a:txBody>
                    <a:bodyPr/>
                    <a:lstStyle/>
                    <a:p>
                      <a:pPr>
                        <a:buNone/>
                      </a:pPr>
                      <a:r>
                        <a:rPr lang="en-IN" sz="1050" b="1"/>
                        <a:t>Docker</a:t>
                      </a:r>
                      <a:endParaRPr lang="en-IN" sz="1050"/>
                    </a:p>
                  </a:txBody>
                  <a:tcPr marL="38356" marR="38356" marT="19178" marB="19178" anchor="ctr">
                    <a:lnL>
                      <a:noFill/>
                    </a:lnL>
                    <a:lnR>
                      <a:noFill/>
                    </a:lnR>
                    <a:lnT>
                      <a:noFill/>
                    </a:lnT>
                    <a:lnB>
                      <a:noFill/>
                    </a:lnB>
                    <a:noFill/>
                  </a:tcPr>
                </a:tc>
                <a:tc>
                  <a:txBody>
                    <a:bodyPr/>
                    <a:lstStyle/>
                    <a:p>
                      <a:pPr>
                        <a:buNone/>
                      </a:pPr>
                      <a:r>
                        <a:rPr lang="en-IN" sz="1050"/>
                        <a:t>Containerize the application for easy deployment across cloud or on-premises banking environments.</a:t>
                      </a:r>
                    </a:p>
                  </a:txBody>
                  <a:tcPr marL="38356" marR="38356" marT="19178" marB="19178" anchor="ctr">
                    <a:lnL>
                      <a:noFill/>
                    </a:lnL>
                    <a:lnR>
                      <a:noFill/>
                    </a:lnR>
                    <a:lnT>
                      <a:noFill/>
                    </a:lnT>
                    <a:lnB>
                      <a:noFill/>
                    </a:lnB>
                    <a:noFill/>
                  </a:tcPr>
                </a:tc>
                <a:extLst>
                  <a:ext uri="{0D108BD9-81ED-4DB2-BD59-A6C34878D82A}">
                    <a16:rowId xmlns:a16="http://schemas.microsoft.com/office/drawing/2014/main" val="1761161503"/>
                  </a:ext>
                </a:extLst>
              </a:tr>
            </a:tbl>
          </a:graphicData>
        </a:graphic>
      </p:graphicFrame>
      <p:sp>
        <p:nvSpPr>
          <p:cNvPr id="16" name="TextBox 15">
            <a:extLst>
              <a:ext uri="{FF2B5EF4-FFF2-40B4-BE49-F238E27FC236}">
                <a16:creationId xmlns:a16="http://schemas.microsoft.com/office/drawing/2014/main" id="{9270C2CC-BE7E-9E79-72D2-2C2C302D8A61}"/>
              </a:ext>
            </a:extLst>
          </p:cNvPr>
          <p:cNvSpPr txBox="1"/>
          <p:nvPr/>
        </p:nvSpPr>
        <p:spPr>
          <a:xfrm>
            <a:off x="152400" y="1295400"/>
            <a:ext cx="4038600" cy="2031325"/>
          </a:xfrm>
          <a:prstGeom prst="rect">
            <a:avLst/>
          </a:prstGeom>
          <a:noFill/>
        </p:spPr>
        <p:txBody>
          <a:bodyPr wrap="square" rtlCol="0">
            <a:spAutoFit/>
          </a:bodyPr>
          <a:lstStyle/>
          <a:p>
            <a:r>
              <a:rPr lang="en-IN" err="1"/>
              <a:t>QuantumShield</a:t>
            </a:r>
            <a:r>
              <a:rPr lang="en-IN"/>
              <a:t> AI combines Machine Learning, Explainable AI (SHAP), secure authentication, and modern web technologies to deliver real-time, transparent, and scalable insider threat detection for banking environments.</a:t>
            </a:r>
          </a:p>
        </p:txBody>
      </p:sp>
      <p:sp>
        <p:nvSpPr>
          <p:cNvPr id="22" name="Rectangle 21">
            <a:extLst>
              <a:ext uri="{FF2B5EF4-FFF2-40B4-BE49-F238E27FC236}">
                <a16:creationId xmlns:a16="http://schemas.microsoft.com/office/drawing/2014/main" id="{AB7E82A6-3402-37AE-4E4F-AB69B9195C10}"/>
              </a:ext>
            </a:extLst>
          </p:cNvPr>
          <p:cNvSpPr/>
          <p:nvPr/>
        </p:nvSpPr>
        <p:spPr>
          <a:xfrm>
            <a:off x="762000" y="3326725"/>
            <a:ext cx="2667000" cy="27692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t>React + Next.js</a:t>
            </a:r>
          </a:p>
          <a:p>
            <a:pPr algn="ctr"/>
            <a:r>
              <a:rPr lang="en-IN" sz="1200"/>
              <a:t>        │</a:t>
            </a:r>
          </a:p>
          <a:p>
            <a:pPr algn="ctr"/>
            <a:r>
              <a:rPr lang="en-IN" sz="1200"/>
              <a:t>        ▼</a:t>
            </a:r>
          </a:p>
          <a:p>
            <a:pPr algn="ctr"/>
            <a:r>
              <a:rPr lang="en-IN" sz="1200" err="1"/>
              <a:t>FastAPI</a:t>
            </a:r>
            <a:r>
              <a:rPr lang="en-IN" sz="1200"/>
              <a:t> Backend</a:t>
            </a:r>
          </a:p>
          <a:p>
            <a:pPr algn="ctr"/>
            <a:r>
              <a:rPr lang="en-IN" sz="1200"/>
              <a:t>        │</a:t>
            </a:r>
          </a:p>
          <a:p>
            <a:pPr algn="ctr"/>
            <a:r>
              <a:rPr lang="en-IN" sz="1200"/>
              <a:t>        ▼</a:t>
            </a:r>
          </a:p>
          <a:p>
            <a:pPr algn="ctr"/>
            <a:r>
              <a:rPr lang="en-IN" sz="1200"/>
              <a:t>Machine Learning</a:t>
            </a:r>
          </a:p>
          <a:p>
            <a:pPr algn="ctr"/>
            <a:r>
              <a:rPr lang="en-IN" sz="1200"/>
              <a:t>(</a:t>
            </a:r>
            <a:r>
              <a:rPr lang="en-IN" sz="1200" err="1"/>
              <a:t>CatBoost</a:t>
            </a:r>
            <a:r>
              <a:rPr lang="en-IN" sz="1200"/>
              <a:t> + SHAP)</a:t>
            </a:r>
          </a:p>
          <a:p>
            <a:pPr algn="ctr"/>
            <a:r>
              <a:rPr lang="en-IN" sz="1200"/>
              <a:t>        │</a:t>
            </a:r>
          </a:p>
          <a:p>
            <a:pPr algn="ctr"/>
            <a:r>
              <a:rPr lang="en-IN" sz="1200"/>
              <a:t>        ▼</a:t>
            </a:r>
          </a:p>
          <a:p>
            <a:pPr algn="ctr"/>
            <a:r>
              <a:rPr lang="en-IN" sz="1200"/>
              <a:t>PostgreSQL Database</a:t>
            </a:r>
          </a:p>
          <a:p>
            <a:pPr algn="ctr"/>
            <a:r>
              <a:rPr lang="en-IN" sz="1200"/>
              <a:t>        │</a:t>
            </a:r>
          </a:p>
          <a:p>
            <a:pPr algn="ctr"/>
            <a:r>
              <a:rPr lang="en-IN" sz="1200"/>
              <a:t>        ▼</a:t>
            </a:r>
          </a:p>
          <a:p>
            <a:pPr algn="ctr"/>
            <a:r>
              <a:rPr lang="en-IN" sz="1200"/>
              <a:t>Live Dashboard</a:t>
            </a:r>
          </a:p>
        </p:txBody>
      </p:sp>
      <p:sp>
        <p:nvSpPr>
          <p:cNvPr id="23" name="TextBox 22">
            <a:extLst>
              <a:ext uri="{FF2B5EF4-FFF2-40B4-BE49-F238E27FC236}">
                <a16:creationId xmlns:a16="http://schemas.microsoft.com/office/drawing/2014/main" id="{295B7174-72B9-1BA0-E929-692E989FC201}"/>
              </a:ext>
            </a:extLst>
          </p:cNvPr>
          <p:cNvSpPr txBox="1"/>
          <p:nvPr/>
        </p:nvSpPr>
        <p:spPr>
          <a:xfrm>
            <a:off x="762000" y="6248400"/>
            <a:ext cx="2743200" cy="381000"/>
          </a:xfrm>
          <a:prstGeom prst="rect">
            <a:avLst/>
          </a:prstGeom>
          <a:noFill/>
        </p:spPr>
        <p:txBody>
          <a:bodyPr wrap="square" rtlCol="0">
            <a:spAutoFit/>
          </a:bodyPr>
          <a:lstStyle/>
          <a:p>
            <a:r>
              <a:rPr lang="en-IN"/>
              <a:t>     Technology Flow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pc="65"/>
              <a:t>Supporting</a:t>
            </a:r>
            <a:r>
              <a:rPr spc="240"/>
              <a:t> </a:t>
            </a:r>
            <a:r>
              <a:t>Functional</a:t>
            </a:r>
            <a:r>
              <a:rPr spc="254"/>
              <a:t> </a:t>
            </a:r>
            <a:r>
              <a:rPr spc="-10"/>
              <a:t>Documents</a:t>
            </a:r>
          </a:p>
        </p:txBody>
      </p:sp>
      <p:pic>
        <p:nvPicPr>
          <p:cNvPr id="3" name="object 3"/>
          <p:cNvPicPr/>
          <p:nvPr/>
        </p:nvPicPr>
        <p:blipFill>
          <a:blip r:embed="rId2" cstate="print"/>
          <a:stretch>
            <a:fillRect/>
          </a:stretch>
        </p:blipFill>
        <p:spPr>
          <a:xfrm>
            <a:off x="10262882" y="154800"/>
            <a:ext cx="1755000" cy="205562"/>
          </a:xfrm>
          <a:prstGeom prst="rect">
            <a:avLst/>
          </a:prstGeom>
        </p:spPr>
      </p:pic>
      <p:pic>
        <p:nvPicPr>
          <p:cNvPr id="13" name="Picture 12">
            <a:extLst>
              <a:ext uri="{FF2B5EF4-FFF2-40B4-BE49-F238E27FC236}">
                <a16:creationId xmlns:a16="http://schemas.microsoft.com/office/drawing/2014/main" id="{FDDC9540-754F-FA90-F4AD-45C187063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4267200"/>
            <a:ext cx="7010400" cy="2514600"/>
          </a:xfrm>
          <a:prstGeom prst="rect">
            <a:avLst/>
          </a:prstGeom>
        </p:spPr>
      </p:pic>
      <p:sp>
        <p:nvSpPr>
          <p:cNvPr id="14" name="Rectangle: Rounded Corners 13">
            <a:extLst>
              <a:ext uri="{FF2B5EF4-FFF2-40B4-BE49-F238E27FC236}">
                <a16:creationId xmlns:a16="http://schemas.microsoft.com/office/drawing/2014/main" id="{8A9D4BCB-C4C2-3B07-75EA-2A597E6DEA36}"/>
              </a:ext>
            </a:extLst>
          </p:cNvPr>
          <p:cNvSpPr/>
          <p:nvPr/>
        </p:nvSpPr>
        <p:spPr>
          <a:xfrm>
            <a:off x="9144000" y="1371600"/>
            <a:ext cx="2438400" cy="5410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t>Employee Activity</a:t>
            </a:r>
          </a:p>
          <a:p>
            <a:pPr algn="ctr"/>
            <a:r>
              <a:rPr lang="en-IN" sz="1400"/>
              <a:t>        │</a:t>
            </a:r>
          </a:p>
          <a:p>
            <a:pPr algn="ctr"/>
            <a:r>
              <a:rPr lang="en-IN" sz="1400"/>
              <a:t>        ▼</a:t>
            </a:r>
          </a:p>
          <a:p>
            <a:pPr algn="ctr"/>
            <a:r>
              <a:rPr lang="en-IN" sz="1400"/>
              <a:t>Authentication</a:t>
            </a:r>
          </a:p>
          <a:p>
            <a:pPr algn="ctr"/>
            <a:r>
              <a:rPr lang="en-IN" sz="1400"/>
              <a:t>        │</a:t>
            </a:r>
          </a:p>
          <a:p>
            <a:pPr algn="ctr"/>
            <a:r>
              <a:rPr lang="en-IN" sz="1400"/>
              <a:t>        ▼</a:t>
            </a:r>
          </a:p>
          <a:p>
            <a:pPr algn="ctr"/>
            <a:r>
              <a:rPr lang="en-IN" sz="1400"/>
              <a:t>Activity Logs</a:t>
            </a:r>
          </a:p>
          <a:p>
            <a:pPr algn="ctr"/>
            <a:r>
              <a:rPr lang="en-IN" sz="1400"/>
              <a:t>        │</a:t>
            </a:r>
          </a:p>
          <a:p>
            <a:pPr algn="ctr"/>
            <a:r>
              <a:rPr lang="en-IN" sz="1400"/>
              <a:t>        ▼</a:t>
            </a:r>
          </a:p>
          <a:p>
            <a:pPr algn="ctr"/>
            <a:r>
              <a:rPr lang="en-IN" sz="1400"/>
              <a:t>Feature Engineering</a:t>
            </a:r>
          </a:p>
          <a:p>
            <a:pPr algn="ctr"/>
            <a:r>
              <a:rPr lang="en-IN" sz="1400"/>
              <a:t>        │</a:t>
            </a:r>
          </a:p>
          <a:p>
            <a:pPr algn="ctr"/>
            <a:r>
              <a:rPr lang="en-IN" sz="1400"/>
              <a:t>        ▼</a:t>
            </a:r>
          </a:p>
          <a:p>
            <a:pPr algn="ctr"/>
            <a:r>
              <a:rPr lang="en-IN" sz="1400" err="1"/>
              <a:t>CatBoost</a:t>
            </a:r>
            <a:r>
              <a:rPr lang="en-IN" sz="1400"/>
              <a:t> Model</a:t>
            </a:r>
          </a:p>
          <a:p>
            <a:pPr algn="ctr"/>
            <a:r>
              <a:rPr lang="en-IN" sz="1400"/>
              <a:t>        │</a:t>
            </a:r>
          </a:p>
          <a:p>
            <a:pPr algn="ctr"/>
            <a:r>
              <a:rPr lang="en-IN" sz="1400"/>
              <a:t>        ▼</a:t>
            </a:r>
          </a:p>
          <a:p>
            <a:pPr algn="ctr"/>
            <a:r>
              <a:rPr lang="en-IN" sz="1400"/>
              <a:t>SHAP Explainability</a:t>
            </a:r>
          </a:p>
          <a:p>
            <a:pPr algn="ctr"/>
            <a:r>
              <a:rPr lang="en-IN" sz="1400"/>
              <a:t>        │</a:t>
            </a:r>
          </a:p>
          <a:p>
            <a:pPr algn="ctr"/>
            <a:r>
              <a:rPr lang="en-IN" sz="1400"/>
              <a:t>        ▼</a:t>
            </a:r>
          </a:p>
          <a:p>
            <a:pPr algn="ctr"/>
            <a:r>
              <a:rPr lang="en-IN" sz="1400"/>
              <a:t>Risk Score</a:t>
            </a:r>
          </a:p>
          <a:p>
            <a:pPr algn="ctr"/>
            <a:r>
              <a:rPr lang="en-IN" sz="1400"/>
              <a:t>        │</a:t>
            </a:r>
          </a:p>
          <a:p>
            <a:pPr algn="ctr"/>
            <a:r>
              <a:rPr lang="en-IN" sz="1400"/>
              <a:t>        ▼</a:t>
            </a:r>
          </a:p>
          <a:p>
            <a:pPr algn="ctr"/>
            <a:r>
              <a:rPr lang="en-IN" sz="1400"/>
              <a:t>Dashboard &amp; Alerts</a:t>
            </a:r>
          </a:p>
          <a:p>
            <a:pPr algn="ctr"/>
            <a:r>
              <a:rPr lang="en-IN" sz="1400"/>
              <a:t>        │</a:t>
            </a:r>
          </a:p>
          <a:p>
            <a:pPr algn="ctr"/>
            <a:r>
              <a:rPr lang="en-IN" sz="1400"/>
              <a:t>        ▼</a:t>
            </a:r>
          </a:p>
          <a:p>
            <a:pPr algn="ctr"/>
            <a:r>
              <a:rPr lang="en-IN" sz="1400"/>
              <a:t>Quantum-Proof Audit Logs</a:t>
            </a:r>
          </a:p>
        </p:txBody>
      </p:sp>
      <p:sp>
        <p:nvSpPr>
          <p:cNvPr id="17" name="TextBox 16">
            <a:extLst>
              <a:ext uri="{FF2B5EF4-FFF2-40B4-BE49-F238E27FC236}">
                <a16:creationId xmlns:a16="http://schemas.microsoft.com/office/drawing/2014/main" id="{04DD4A3E-C989-084B-2566-E2CB75036FDC}"/>
              </a:ext>
            </a:extLst>
          </p:cNvPr>
          <p:cNvSpPr txBox="1"/>
          <p:nvPr/>
        </p:nvSpPr>
        <p:spPr>
          <a:xfrm>
            <a:off x="9220200" y="838200"/>
            <a:ext cx="2667000" cy="369332"/>
          </a:xfrm>
          <a:prstGeom prst="rect">
            <a:avLst/>
          </a:prstGeom>
          <a:noFill/>
        </p:spPr>
        <p:txBody>
          <a:bodyPr wrap="square" rtlCol="0">
            <a:spAutoFit/>
          </a:bodyPr>
          <a:lstStyle/>
          <a:p>
            <a:r>
              <a:rPr lang="en-IN"/>
              <a:t>System Architecture</a:t>
            </a:r>
          </a:p>
        </p:txBody>
      </p:sp>
      <p:sp>
        <p:nvSpPr>
          <p:cNvPr id="19" name="TextBox 18">
            <a:extLst>
              <a:ext uri="{FF2B5EF4-FFF2-40B4-BE49-F238E27FC236}">
                <a16:creationId xmlns:a16="http://schemas.microsoft.com/office/drawing/2014/main" id="{47F0510E-6BB0-FA2E-C17D-855B2708AABB}"/>
              </a:ext>
            </a:extLst>
          </p:cNvPr>
          <p:cNvSpPr txBox="1"/>
          <p:nvPr/>
        </p:nvSpPr>
        <p:spPr>
          <a:xfrm>
            <a:off x="304800" y="1219200"/>
            <a:ext cx="8534400" cy="1323439"/>
          </a:xfrm>
          <a:prstGeom prst="rect">
            <a:avLst/>
          </a:prstGeom>
          <a:noFill/>
        </p:spPr>
        <p:txBody>
          <a:bodyPr wrap="square" rtlCol="0">
            <a:spAutoFit/>
          </a:bodyPr>
          <a:lstStyle/>
          <a:p>
            <a:r>
              <a:rPr lang="en-IN" sz="1600" err="1"/>
              <a:t>QuantumShield</a:t>
            </a:r>
            <a:r>
              <a:rPr lang="en-IN" sz="1600"/>
              <a:t> AI is supported by technical documents including system architecture, AI workflow, risk scoring logic, user flow diagrams, database design, and prototype screenshots. Together, these documents explain how the platform detects insider threats, provides explainable AI-based decisions, and ensures secure, scalable deployment for modern banking environments.</a:t>
            </a:r>
          </a:p>
        </p:txBody>
      </p:sp>
      <p:sp>
        <p:nvSpPr>
          <p:cNvPr id="20" name="TextBox 19">
            <a:extLst>
              <a:ext uri="{FF2B5EF4-FFF2-40B4-BE49-F238E27FC236}">
                <a16:creationId xmlns:a16="http://schemas.microsoft.com/office/drawing/2014/main" id="{12B02BF6-7220-03AC-E64D-83DB7C15CA99}"/>
              </a:ext>
            </a:extLst>
          </p:cNvPr>
          <p:cNvSpPr txBox="1"/>
          <p:nvPr/>
        </p:nvSpPr>
        <p:spPr>
          <a:xfrm>
            <a:off x="357022" y="2641942"/>
            <a:ext cx="6577178" cy="1661993"/>
          </a:xfrm>
          <a:prstGeom prst="rect">
            <a:avLst/>
          </a:prstGeom>
          <a:noFill/>
        </p:spPr>
        <p:txBody>
          <a:bodyPr wrap="square" rtlCol="0">
            <a:spAutoFit/>
          </a:bodyPr>
          <a:lstStyle/>
          <a:p>
            <a:pPr marL="285750" indent="-285750">
              <a:buFont typeface="Arial" panose="020B0604020202020204" pitchFamily="34" charset="0"/>
              <a:buChar char="•"/>
            </a:pPr>
            <a:r>
              <a:rPr lang="en-IN" sz="1400"/>
              <a:t>🤖 </a:t>
            </a:r>
            <a:r>
              <a:rPr lang="en-IN" sz="1400" b="1"/>
              <a:t>ML Workflow</a:t>
            </a:r>
            <a:endParaRPr lang="en-IN" sz="1400"/>
          </a:p>
          <a:p>
            <a:r>
              <a:rPr lang="en-IN" sz="1400"/>
              <a:t>      Data → Training → Prediction → SHAP </a:t>
            </a:r>
          </a:p>
          <a:p>
            <a:pPr marL="285750" indent="-285750">
              <a:buFont typeface="Arial" panose="020B0604020202020204" pitchFamily="34" charset="0"/>
              <a:buChar char="•"/>
            </a:pPr>
            <a:r>
              <a:rPr lang="en-IN" sz="1400"/>
              <a:t>📊 </a:t>
            </a:r>
            <a:r>
              <a:rPr lang="en-IN" sz="1400" b="1"/>
              <a:t>AI Risk Scoring</a:t>
            </a:r>
            <a:endParaRPr lang="en-IN" sz="1400"/>
          </a:p>
          <a:p>
            <a:r>
              <a:rPr lang="en-IN" sz="1400"/>
              <a:t>      User activity → Risk Score → Alert </a:t>
            </a:r>
          </a:p>
          <a:p>
            <a:pPr marL="285750" indent="-285750">
              <a:buFont typeface="Arial" panose="020B0604020202020204" pitchFamily="34" charset="0"/>
              <a:buChar char="•"/>
            </a:pPr>
            <a:r>
              <a:rPr lang="en-IN" sz="1400"/>
              <a:t>👤 </a:t>
            </a:r>
            <a:r>
              <a:rPr lang="en-IN" sz="1400" b="1"/>
              <a:t>User Flow</a:t>
            </a:r>
            <a:endParaRPr lang="en-IN" sz="1400"/>
          </a:p>
          <a:p>
            <a:r>
              <a:rPr lang="en-IN" sz="1400"/>
              <a:t>      Login → Detection → Response </a:t>
            </a:r>
          </a:p>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56654" y="625356"/>
            <a:ext cx="7902575" cy="537968"/>
          </a:xfrm>
          <a:prstGeom prst="rect">
            <a:avLst/>
          </a:prstGeom>
        </p:spPr>
        <p:txBody>
          <a:bodyPr vert="horz" wrap="square" lIns="0" tIns="106045" rIns="0" bIns="0" rtlCol="0">
            <a:spAutoFit/>
          </a:bodyPr>
          <a:lstStyle/>
          <a:p>
            <a:pPr marL="66675">
              <a:lnSpc>
                <a:spcPct val="100000"/>
              </a:lnSpc>
              <a:spcBef>
                <a:spcPts val="835"/>
              </a:spcBef>
            </a:pPr>
            <a:r>
              <a:t>Key</a:t>
            </a:r>
            <a:r>
              <a:rPr spc="130"/>
              <a:t> </a:t>
            </a:r>
            <a:r>
              <a:t>Differentiators</a:t>
            </a:r>
            <a:r>
              <a:rPr spc="135"/>
              <a:t> </a:t>
            </a:r>
            <a:endParaRPr spc="-20"/>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4" name="TextBox 3">
            <a:extLst>
              <a:ext uri="{FF2B5EF4-FFF2-40B4-BE49-F238E27FC236}">
                <a16:creationId xmlns:a16="http://schemas.microsoft.com/office/drawing/2014/main" id="{822BB63B-E4AB-3E81-6108-3046C88C4700}"/>
              </a:ext>
            </a:extLst>
          </p:cNvPr>
          <p:cNvSpPr txBox="1"/>
          <p:nvPr/>
        </p:nvSpPr>
        <p:spPr>
          <a:xfrm>
            <a:off x="457200" y="1295400"/>
            <a:ext cx="5562600" cy="5355312"/>
          </a:xfrm>
          <a:prstGeom prst="rect">
            <a:avLst/>
          </a:prstGeom>
          <a:noFill/>
        </p:spPr>
        <p:txBody>
          <a:bodyPr wrap="square" rtlCol="0">
            <a:spAutoFit/>
          </a:bodyPr>
          <a:lstStyle/>
          <a:p>
            <a:r>
              <a:rPr lang="en-IN" b="1"/>
              <a:t>Traditional Security Systems</a:t>
            </a:r>
          </a:p>
          <a:p>
            <a:pPr marL="285750" indent="-285750">
              <a:buFont typeface="Arial" panose="020B0604020202020204" pitchFamily="34" charset="0"/>
              <a:buChar char="•"/>
            </a:pPr>
            <a:r>
              <a:rPr lang="en-IN"/>
              <a:t> </a:t>
            </a:r>
            <a:r>
              <a:rPr lang="en-IN" b="1"/>
              <a:t>Rule-Based Detection</a:t>
            </a:r>
            <a:br>
              <a:rPr lang="en-IN"/>
            </a:br>
            <a:r>
              <a:rPr lang="en-IN"/>
              <a:t>Relies on predefined rules and signatures, making it difficult to detect new or unknown insider threats.</a:t>
            </a:r>
          </a:p>
          <a:p>
            <a:pPr marL="285750" indent="-285750">
              <a:buFont typeface="Arial" panose="020B0604020202020204" pitchFamily="34" charset="0"/>
              <a:buChar char="•"/>
            </a:pPr>
            <a:r>
              <a:rPr lang="en-IN"/>
              <a:t> </a:t>
            </a:r>
            <a:r>
              <a:rPr lang="en-IN" b="1"/>
              <a:t>High False Positives</a:t>
            </a:r>
            <a:br>
              <a:rPr lang="en-IN"/>
            </a:br>
            <a:r>
              <a:rPr lang="en-IN"/>
              <a:t>Generates many unnecessary alerts, increasing manual investigation and reducing analyst efficiency.</a:t>
            </a:r>
          </a:p>
          <a:p>
            <a:pPr marL="285750" indent="-285750">
              <a:buFont typeface="Arial" panose="020B0604020202020204" pitchFamily="34" charset="0"/>
              <a:buChar char="•"/>
            </a:pPr>
            <a:r>
              <a:rPr lang="en-IN"/>
              <a:t> </a:t>
            </a:r>
            <a:r>
              <a:rPr lang="en-IN" b="1"/>
              <a:t>Limited User Understanding</a:t>
            </a:r>
            <a:br>
              <a:rPr lang="en-IN"/>
            </a:br>
            <a:r>
              <a:rPr lang="en-IN"/>
              <a:t>Monitors isolated events instead of learning each user's normal </a:t>
            </a:r>
            <a:r>
              <a:rPr lang="en-IN" err="1"/>
              <a:t>behavior</a:t>
            </a:r>
            <a:r>
              <a:rPr lang="en-IN"/>
              <a:t> over time.</a:t>
            </a:r>
          </a:p>
          <a:p>
            <a:pPr marL="285750" indent="-285750">
              <a:buFont typeface="Arial" panose="020B0604020202020204" pitchFamily="34" charset="0"/>
              <a:buChar char="•"/>
            </a:pPr>
            <a:r>
              <a:rPr lang="en-IN"/>
              <a:t> </a:t>
            </a:r>
            <a:r>
              <a:rPr lang="en-IN" b="1"/>
              <a:t>Manual Investigation</a:t>
            </a:r>
            <a:br>
              <a:rPr lang="en-IN"/>
            </a:br>
            <a:r>
              <a:rPr lang="en-IN"/>
              <a:t>Security teams must manually </a:t>
            </a:r>
            <a:r>
              <a:rPr lang="en-IN" err="1"/>
              <a:t>analyze</a:t>
            </a:r>
            <a:r>
              <a:rPr lang="en-IN"/>
              <a:t> alerts, leading to slower incident response.</a:t>
            </a:r>
          </a:p>
          <a:p>
            <a:pPr marL="285750" indent="-285750">
              <a:buFont typeface="Arial" panose="020B0604020202020204" pitchFamily="34" charset="0"/>
              <a:buChar char="•"/>
            </a:pPr>
            <a:r>
              <a:rPr lang="en-IN"/>
              <a:t> </a:t>
            </a:r>
            <a:r>
              <a:rPr lang="en-IN" b="1"/>
              <a:t>Limited Explainability</a:t>
            </a:r>
            <a:br>
              <a:rPr lang="en-IN"/>
            </a:br>
            <a:r>
              <a:rPr lang="en-IN"/>
              <a:t>Provides alerts without clearly explaining why a user or activity was classified as suspicious.</a:t>
            </a:r>
          </a:p>
          <a:p>
            <a:endParaRPr lang="en-IN"/>
          </a:p>
        </p:txBody>
      </p:sp>
      <p:sp>
        <p:nvSpPr>
          <p:cNvPr id="5" name="TextBox 4">
            <a:extLst>
              <a:ext uri="{FF2B5EF4-FFF2-40B4-BE49-F238E27FC236}">
                <a16:creationId xmlns:a16="http://schemas.microsoft.com/office/drawing/2014/main" id="{4ADDC2C9-97EF-7E15-0E6D-055B60B26FC9}"/>
              </a:ext>
            </a:extLst>
          </p:cNvPr>
          <p:cNvSpPr txBox="1"/>
          <p:nvPr/>
        </p:nvSpPr>
        <p:spPr>
          <a:xfrm>
            <a:off x="6248400" y="1295400"/>
            <a:ext cx="5867400" cy="5078313"/>
          </a:xfrm>
          <a:prstGeom prst="rect">
            <a:avLst/>
          </a:prstGeom>
          <a:noFill/>
        </p:spPr>
        <p:txBody>
          <a:bodyPr wrap="square" rtlCol="0">
            <a:spAutoFit/>
          </a:bodyPr>
          <a:lstStyle/>
          <a:p>
            <a:r>
              <a:rPr lang="en-IN" b="1" err="1"/>
              <a:t>QuantumShield</a:t>
            </a:r>
            <a:r>
              <a:rPr lang="en-IN" b="1"/>
              <a:t> AI</a:t>
            </a:r>
          </a:p>
          <a:p>
            <a:pPr marL="285750" indent="-285750">
              <a:buFont typeface="Arial" panose="020B0604020202020204" pitchFamily="34" charset="0"/>
              <a:buChar char="•"/>
            </a:pPr>
            <a:r>
              <a:rPr lang="en-IN"/>
              <a:t> </a:t>
            </a:r>
            <a:r>
              <a:rPr lang="en-IN" b="1"/>
              <a:t>AI-Powered Threat Detection</a:t>
            </a:r>
            <a:br>
              <a:rPr lang="en-IN"/>
            </a:br>
            <a:r>
              <a:rPr lang="en-IN"/>
              <a:t>Uses </a:t>
            </a:r>
            <a:r>
              <a:rPr lang="en-IN" b="1" err="1"/>
              <a:t>CatBoost</a:t>
            </a:r>
            <a:r>
              <a:rPr lang="en-IN" b="1"/>
              <a:t> Machine Learning</a:t>
            </a:r>
            <a:r>
              <a:rPr lang="en-IN"/>
              <a:t> to identify suspicious insider activities with higher accuracy. </a:t>
            </a:r>
          </a:p>
          <a:p>
            <a:pPr marL="285750" indent="-285750">
              <a:buFont typeface="Arial" panose="020B0604020202020204" pitchFamily="34" charset="0"/>
              <a:buChar char="•"/>
            </a:pPr>
            <a:r>
              <a:rPr lang="en-IN" b="1" err="1"/>
              <a:t>Behavioral</a:t>
            </a:r>
            <a:r>
              <a:rPr lang="en-IN" b="1"/>
              <a:t> Learning</a:t>
            </a:r>
            <a:br>
              <a:rPr lang="en-IN"/>
            </a:br>
            <a:r>
              <a:rPr lang="en-IN"/>
              <a:t>Learns normal user </a:t>
            </a:r>
            <a:r>
              <a:rPr lang="en-IN" err="1"/>
              <a:t>behavior</a:t>
            </a:r>
            <a:r>
              <a:rPr lang="en-IN"/>
              <a:t> from historical activity and detects unusual actions in real time.</a:t>
            </a:r>
          </a:p>
          <a:p>
            <a:pPr marL="285750" indent="-285750">
              <a:buFont typeface="Arial" panose="020B0604020202020204" pitchFamily="34" charset="0"/>
              <a:buChar char="•"/>
            </a:pPr>
            <a:r>
              <a:rPr lang="en-IN"/>
              <a:t> </a:t>
            </a:r>
            <a:r>
              <a:rPr lang="en-IN" b="1"/>
              <a:t>Explainable AI (SHAP)</a:t>
            </a:r>
            <a:br>
              <a:rPr lang="en-IN"/>
            </a:br>
            <a:r>
              <a:rPr lang="en-IN"/>
              <a:t>Explains every AI prediction by highlighting the key factors that contributed to the risk score. </a:t>
            </a:r>
          </a:p>
          <a:p>
            <a:pPr marL="285750" indent="-285750">
              <a:buFont typeface="Arial" panose="020B0604020202020204" pitchFamily="34" charset="0"/>
              <a:buChar char="•"/>
            </a:pPr>
            <a:r>
              <a:rPr lang="en-IN"/>
              <a:t> </a:t>
            </a:r>
            <a:r>
              <a:rPr lang="en-IN" b="1"/>
              <a:t>Real-Time Risk Scoring</a:t>
            </a:r>
            <a:br>
              <a:rPr lang="en-IN"/>
            </a:br>
            <a:r>
              <a:rPr lang="en-IN" err="1"/>
              <a:t>Analyzes</a:t>
            </a:r>
            <a:r>
              <a:rPr lang="en-IN"/>
              <a:t> user activities instantly and assigns a dynamic risk score for faster decision-making.</a:t>
            </a:r>
          </a:p>
          <a:p>
            <a:pPr marL="285750" indent="-285750">
              <a:buFont typeface="Arial" panose="020B0604020202020204" pitchFamily="34" charset="0"/>
              <a:buChar char="•"/>
            </a:pPr>
            <a:r>
              <a:rPr lang="en-IN"/>
              <a:t> </a:t>
            </a:r>
            <a:r>
              <a:rPr lang="en-IN" b="1"/>
              <a:t>Quantum-Safe Security</a:t>
            </a:r>
            <a:br>
              <a:rPr lang="en-IN"/>
            </a:br>
            <a:r>
              <a:rPr lang="en-IN"/>
              <a:t>Protects sensitive audit logs and security records using </a:t>
            </a:r>
            <a:r>
              <a:rPr lang="en-IN" b="1"/>
              <a:t>Quantum-Proof Cryptography (QPC)</a:t>
            </a:r>
            <a:r>
              <a:rPr lang="en-IN"/>
              <a:t> for long-term security.</a:t>
            </a:r>
          </a:p>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D3BDB-51B3-C2A0-A1FF-F69C336E313A}"/>
              </a:ext>
            </a:extLst>
          </p:cNvPr>
          <p:cNvSpPr>
            <a:spLocks noGrp="1"/>
          </p:cNvSpPr>
          <p:nvPr>
            <p:ph type="title"/>
          </p:nvPr>
        </p:nvSpPr>
        <p:spPr>
          <a:xfrm>
            <a:off x="356654" y="625356"/>
            <a:ext cx="7902575" cy="430887"/>
          </a:xfrm>
        </p:spPr>
        <p:txBody>
          <a:bodyPr/>
          <a:lstStyle/>
          <a:p>
            <a:r>
              <a:rPr lang="en-IN" spc="60"/>
              <a:t>Adoption</a:t>
            </a:r>
            <a:r>
              <a:rPr lang="en-IN" spc="140"/>
              <a:t> </a:t>
            </a:r>
            <a:r>
              <a:rPr lang="en-IN" spc="-20"/>
              <a:t>Plan</a:t>
            </a:r>
            <a:endParaRPr lang="en-IN"/>
          </a:p>
        </p:txBody>
      </p:sp>
      <p:sp>
        <p:nvSpPr>
          <p:cNvPr id="5" name="TextBox 4">
            <a:extLst>
              <a:ext uri="{FF2B5EF4-FFF2-40B4-BE49-F238E27FC236}">
                <a16:creationId xmlns:a16="http://schemas.microsoft.com/office/drawing/2014/main" id="{A7482C23-6182-283F-8AF3-A070B684F3E6}"/>
              </a:ext>
            </a:extLst>
          </p:cNvPr>
          <p:cNvSpPr txBox="1"/>
          <p:nvPr/>
        </p:nvSpPr>
        <p:spPr>
          <a:xfrm>
            <a:off x="381000" y="1295400"/>
            <a:ext cx="6858000" cy="5078313"/>
          </a:xfrm>
          <a:prstGeom prst="rect">
            <a:avLst/>
          </a:prstGeom>
          <a:noFill/>
        </p:spPr>
        <p:txBody>
          <a:bodyPr wrap="square" rtlCol="0">
            <a:spAutoFit/>
          </a:bodyPr>
          <a:lstStyle/>
          <a:p>
            <a:r>
              <a:rPr lang="en-IN" b="1"/>
              <a:t>Phase 1 – Pilot Deployment</a:t>
            </a:r>
          </a:p>
          <a:p>
            <a:r>
              <a:rPr lang="en-IN"/>
              <a:t>Deploy </a:t>
            </a:r>
            <a:r>
              <a:rPr lang="en-IN" err="1"/>
              <a:t>QuantumShield</a:t>
            </a:r>
            <a:r>
              <a:rPr lang="en-IN"/>
              <a:t> AI in a single bank branch or Security Operations </a:t>
            </a:r>
            <a:r>
              <a:rPr lang="en-IN" err="1"/>
              <a:t>Center</a:t>
            </a:r>
            <a:r>
              <a:rPr lang="en-IN"/>
              <a:t> (SOC). </a:t>
            </a:r>
          </a:p>
          <a:p>
            <a:r>
              <a:rPr lang="en-IN"/>
              <a:t>Monitor privileged users and validate AI-generated risk scores using historical activity data. </a:t>
            </a:r>
          </a:p>
          <a:p>
            <a:r>
              <a:rPr lang="en-IN" b="1"/>
              <a:t>Phase 2 – Organization-Wide Rollout</a:t>
            </a:r>
          </a:p>
          <a:p>
            <a:r>
              <a:rPr lang="en-IN"/>
              <a:t>Expand deployment across all bank branches and departments. </a:t>
            </a:r>
          </a:p>
          <a:p>
            <a:r>
              <a:rPr lang="en-IN"/>
              <a:t>Integrate with existing IAM, SIEM, and audit logging systems for centralized monitoring. </a:t>
            </a:r>
          </a:p>
          <a:p>
            <a:r>
              <a:rPr lang="en-IN" b="1"/>
              <a:t>Phase 3 – Intelligent Automation</a:t>
            </a:r>
          </a:p>
          <a:p>
            <a:r>
              <a:rPr lang="en-IN"/>
              <a:t>Enable automated responses for high-risk insider activities. </a:t>
            </a:r>
          </a:p>
          <a:p>
            <a:r>
              <a:rPr lang="en-IN"/>
              <a:t>Use Explainable AI (SHAP) to support faster investigations and improve analyst confidence. </a:t>
            </a:r>
          </a:p>
          <a:p>
            <a:r>
              <a:rPr lang="en-IN" b="1"/>
              <a:t>Phase 4 – Future Expansion</a:t>
            </a:r>
          </a:p>
          <a:p>
            <a:r>
              <a:rPr lang="en-IN"/>
              <a:t>Scale to multi-bank environments and cloud platforms. </a:t>
            </a:r>
          </a:p>
          <a:p>
            <a:r>
              <a:rPr lang="en-IN"/>
              <a:t>Continuously improve AI models and strengthen security with Quantum-Proof Cryptography (QPC). </a:t>
            </a:r>
          </a:p>
          <a:p>
            <a:endParaRPr lang="en-IN"/>
          </a:p>
        </p:txBody>
      </p:sp>
      <p:sp>
        <p:nvSpPr>
          <p:cNvPr id="6" name="Flowchart: Decision 5">
            <a:extLst>
              <a:ext uri="{FF2B5EF4-FFF2-40B4-BE49-F238E27FC236}">
                <a16:creationId xmlns:a16="http://schemas.microsoft.com/office/drawing/2014/main" id="{47F669E4-AB31-2341-3E7B-3735A1F4F46C}"/>
              </a:ext>
            </a:extLst>
          </p:cNvPr>
          <p:cNvSpPr/>
          <p:nvPr/>
        </p:nvSpPr>
        <p:spPr>
          <a:xfrm>
            <a:off x="7315200" y="625356"/>
            <a:ext cx="4572000" cy="5394444"/>
          </a:xfrm>
          <a:prstGeom prst="flowChartDecision">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solidFill>
                  <a:schemeClr val="tx1">
                    <a:lumMod val="95000"/>
                    <a:lumOff val="5000"/>
                  </a:schemeClr>
                </a:solidFill>
              </a:rPr>
              <a:t>Pilot Branch</a:t>
            </a:r>
          </a:p>
          <a:p>
            <a:pPr algn="ctr"/>
            <a:r>
              <a:rPr lang="en-IN">
                <a:solidFill>
                  <a:schemeClr val="tx1">
                    <a:lumMod val="95000"/>
                    <a:lumOff val="5000"/>
                  </a:schemeClr>
                </a:solidFill>
              </a:rPr>
              <a:t>      │</a:t>
            </a:r>
          </a:p>
          <a:p>
            <a:pPr algn="ctr"/>
            <a:r>
              <a:rPr lang="en-IN">
                <a:solidFill>
                  <a:schemeClr val="tx1">
                    <a:lumMod val="95000"/>
                    <a:lumOff val="5000"/>
                  </a:schemeClr>
                </a:solidFill>
              </a:rPr>
              <a:t>      ▼</a:t>
            </a:r>
          </a:p>
          <a:p>
            <a:pPr algn="ctr"/>
            <a:r>
              <a:rPr lang="en-IN">
                <a:solidFill>
                  <a:schemeClr val="tx1">
                    <a:lumMod val="95000"/>
                    <a:lumOff val="5000"/>
                  </a:schemeClr>
                </a:solidFill>
              </a:rPr>
              <a:t>Multiple Branches</a:t>
            </a:r>
          </a:p>
          <a:p>
            <a:pPr algn="ctr"/>
            <a:r>
              <a:rPr lang="en-IN">
                <a:solidFill>
                  <a:schemeClr val="tx1">
                    <a:lumMod val="95000"/>
                    <a:lumOff val="5000"/>
                  </a:schemeClr>
                </a:solidFill>
              </a:rPr>
              <a:t>      │</a:t>
            </a:r>
          </a:p>
          <a:p>
            <a:pPr algn="ctr"/>
            <a:r>
              <a:rPr lang="en-IN">
                <a:solidFill>
                  <a:schemeClr val="tx1">
                    <a:lumMod val="95000"/>
                    <a:lumOff val="5000"/>
                  </a:schemeClr>
                </a:solidFill>
              </a:rPr>
              <a:t>      ▼</a:t>
            </a:r>
          </a:p>
          <a:p>
            <a:pPr algn="ctr"/>
            <a:r>
              <a:rPr lang="en-IN">
                <a:solidFill>
                  <a:schemeClr val="tx1">
                    <a:lumMod val="95000"/>
                    <a:lumOff val="5000"/>
                  </a:schemeClr>
                </a:solidFill>
              </a:rPr>
              <a:t>Enterprise Banking</a:t>
            </a:r>
          </a:p>
          <a:p>
            <a:pPr algn="ctr"/>
            <a:r>
              <a:rPr lang="en-IN">
                <a:solidFill>
                  <a:schemeClr val="tx1">
                    <a:lumMod val="95000"/>
                    <a:lumOff val="5000"/>
                  </a:schemeClr>
                </a:solidFill>
              </a:rPr>
              <a:t>      │</a:t>
            </a:r>
          </a:p>
          <a:p>
            <a:pPr algn="ctr"/>
            <a:r>
              <a:rPr lang="en-IN">
                <a:solidFill>
                  <a:schemeClr val="tx1">
                    <a:lumMod val="95000"/>
                    <a:lumOff val="5000"/>
                  </a:schemeClr>
                </a:solidFill>
              </a:rPr>
              <a:t>      ▼</a:t>
            </a:r>
          </a:p>
          <a:p>
            <a:pPr algn="ctr"/>
            <a:r>
              <a:rPr lang="en-IN">
                <a:solidFill>
                  <a:schemeClr val="tx1">
                    <a:lumMod val="95000"/>
                    <a:lumOff val="5000"/>
                  </a:schemeClr>
                </a:solidFill>
              </a:rPr>
              <a:t>Multi-Bank Platform</a:t>
            </a:r>
          </a:p>
        </p:txBody>
      </p:sp>
    </p:spTree>
    <p:extLst>
      <p:ext uri="{BB962C8B-B14F-4D97-AF65-F5344CB8AC3E}">
        <p14:creationId xmlns:p14="http://schemas.microsoft.com/office/powerpoint/2010/main" val="760540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304800" y="533400"/>
            <a:ext cx="7954606" cy="751488"/>
          </a:xfrm>
          <a:prstGeom prst="rect">
            <a:avLst/>
          </a:prstGeom>
        </p:spPr>
        <p:txBody>
          <a:bodyPr vert="horz" wrap="square" lIns="0" tIns="12700" rIns="0" bIns="0" rtlCol="0">
            <a:spAutoFit/>
          </a:bodyPr>
          <a:lstStyle/>
          <a:p>
            <a:pPr marL="12700" marR="5080">
              <a:lnSpc>
                <a:spcPct val="100000"/>
              </a:lnSpc>
              <a:spcBef>
                <a:spcPts val="100"/>
              </a:spcBef>
            </a:pPr>
            <a:r>
              <a:rPr sz="2400">
                <a:solidFill>
                  <a:srgbClr val="205767"/>
                </a:solidFill>
                <a:latin typeface="Arial MT"/>
                <a:cs typeface="Arial MT"/>
              </a:rPr>
              <a:t>GitHub</a:t>
            </a:r>
            <a:r>
              <a:rPr sz="2400" spc="30">
                <a:solidFill>
                  <a:srgbClr val="205767"/>
                </a:solidFill>
                <a:latin typeface="Arial MT"/>
                <a:cs typeface="Arial MT"/>
              </a:rPr>
              <a:t> </a:t>
            </a:r>
            <a:r>
              <a:rPr sz="2400" spc="55">
                <a:solidFill>
                  <a:srgbClr val="205767"/>
                </a:solidFill>
                <a:latin typeface="Arial MT"/>
                <a:cs typeface="Arial MT"/>
              </a:rPr>
              <a:t>Repository</a:t>
            </a:r>
            <a:r>
              <a:rPr sz="2400" spc="35">
                <a:solidFill>
                  <a:srgbClr val="205767"/>
                </a:solidFill>
                <a:latin typeface="Arial MT"/>
                <a:cs typeface="Arial MT"/>
              </a:rPr>
              <a:t> </a:t>
            </a:r>
            <a:r>
              <a:rPr sz="2400" spc="65">
                <a:solidFill>
                  <a:srgbClr val="205767"/>
                </a:solidFill>
                <a:latin typeface="Arial MT"/>
                <a:cs typeface="Arial MT"/>
              </a:rPr>
              <a:t>Link</a:t>
            </a:r>
            <a:r>
              <a:rPr sz="2400" spc="35">
                <a:solidFill>
                  <a:srgbClr val="205767"/>
                </a:solidFill>
                <a:latin typeface="Arial MT"/>
                <a:cs typeface="Arial MT"/>
              </a:rPr>
              <a:t> </a:t>
            </a:r>
            <a:r>
              <a:rPr sz="2400" spc="70">
                <a:solidFill>
                  <a:srgbClr val="205767"/>
                </a:solidFill>
                <a:latin typeface="Arial MT"/>
                <a:cs typeface="Arial MT"/>
              </a:rPr>
              <a:t>&amp;</a:t>
            </a:r>
            <a:r>
              <a:rPr sz="2400" spc="40">
                <a:solidFill>
                  <a:srgbClr val="205767"/>
                </a:solidFill>
                <a:latin typeface="Arial MT"/>
                <a:cs typeface="Arial MT"/>
              </a:rPr>
              <a:t> </a:t>
            </a:r>
            <a:r>
              <a:rPr sz="2400" spc="75">
                <a:solidFill>
                  <a:srgbClr val="205767"/>
                </a:solidFill>
                <a:latin typeface="Arial MT"/>
                <a:cs typeface="Arial MT"/>
              </a:rPr>
              <a:t>supporting</a:t>
            </a:r>
            <a:r>
              <a:rPr sz="2400" spc="40">
                <a:solidFill>
                  <a:srgbClr val="205767"/>
                </a:solidFill>
                <a:latin typeface="Arial MT"/>
                <a:cs typeface="Arial MT"/>
              </a:rPr>
              <a:t> </a:t>
            </a:r>
            <a:r>
              <a:rPr sz="2400" spc="-10">
                <a:solidFill>
                  <a:srgbClr val="205767"/>
                </a:solidFill>
                <a:latin typeface="Arial MT"/>
                <a:cs typeface="Arial MT"/>
              </a:rPr>
              <a:t>diagrams, screenshots</a:t>
            </a:r>
            <a:endParaRPr sz="2400">
              <a:latin typeface="Arial MT"/>
              <a:cs typeface="Arial MT"/>
            </a:endParaRPr>
          </a:p>
        </p:txBody>
      </p:sp>
      <p:pic>
        <p:nvPicPr>
          <p:cNvPr id="4" name="object 4"/>
          <p:cNvPicPr/>
          <p:nvPr/>
        </p:nvPicPr>
        <p:blipFill>
          <a:blip r:embed="rId2" cstate="print"/>
          <a:stretch>
            <a:fillRect/>
          </a:stretch>
        </p:blipFill>
        <p:spPr>
          <a:xfrm>
            <a:off x="10262882" y="154800"/>
            <a:ext cx="1755000" cy="205562"/>
          </a:xfrm>
          <a:prstGeom prst="rect">
            <a:avLst/>
          </a:prstGeom>
        </p:spPr>
      </p:pic>
      <p:sp>
        <p:nvSpPr>
          <p:cNvPr id="5" name="TextBox 4">
            <a:extLst>
              <a:ext uri="{FF2B5EF4-FFF2-40B4-BE49-F238E27FC236}">
                <a16:creationId xmlns:a16="http://schemas.microsoft.com/office/drawing/2014/main" id="{26C40888-E1E4-39DF-7CB1-5BD730EBEFEA}"/>
              </a:ext>
            </a:extLst>
          </p:cNvPr>
          <p:cNvSpPr txBox="1"/>
          <p:nvPr/>
        </p:nvSpPr>
        <p:spPr>
          <a:xfrm>
            <a:off x="228600" y="1284888"/>
            <a:ext cx="8763000" cy="830997"/>
          </a:xfrm>
          <a:prstGeom prst="rect">
            <a:avLst/>
          </a:prstGeom>
          <a:noFill/>
        </p:spPr>
        <p:txBody>
          <a:bodyPr wrap="square" rtlCol="0">
            <a:spAutoFit/>
          </a:bodyPr>
          <a:lstStyle/>
          <a:p>
            <a:r>
              <a:rPr lang="en-IN" sz="1600" err="1"/>
              <a:t>QuantumShield</a:t>
            </a:r>
            <a:r>
              <a:rPr lang="en-IN" sz="1600"/>
              <a:t> AI is supported by a fully functional prototype, complete source code, technical diagrams, and interactive dashboards. These resources demonstrate the implementation, AI workflow, and real-time insider threat detection capabilities of the platform.</a:t>
            </a:r>
          </a:p>
        </p:txBody>
      </p:sp>
      <p:sp>
        <p:nvSpPr>
          <p:cNvPr id="6" name="TextBox 5">
            <a:extLst>
              <a:ext uri="{FF2B5EF4-FFF2-40B4-BE49-F238E27FC236}">
                <a16:creationId xmlns:a16="http://schemas.microsoft.com/office/drawing/2014/main" id="{47986807-4F58-0A9E-2CC5-15CF85FD0ED5}"/>
              </a:ext>
            </a:extLst>
          </p:cNvPr>
          <p:cNvSpPr txBox="1"/>
          <p:nvPr/>
        </p:nvSpPr>
        <p:spPr>
          <a:xfrm>
            <a:off x="228600" y="2209800"/>
            <a:ext cx="5257800" cy="553998"/>
          </a:xfrm>
          <a:prstGeom prst="rect">
            <a:avLst/>
          </a:prstGeom>
          <a:noFill/>
        </p:spPr>
        <p:txBody>
          <a:bodyPr wrap="square" rtlCol="0">
            <a:spAutoFit/>
          </a:bodyPr>
          <a:lstStyle/>
          <a:p>
            <a:r>
              <a:rPr lang="en-IN"/>
              <a:t>💻 </a:t>
            </a:r>
            <a:r>
              <a:rPr lang="en-IN" b="1"/>
              <a:t>GitHub Repository -</a:t>
            </a:r>
            <a:r>
              <a:rPr lang="en-IN" sz="1200" b="1">
                <a:hlinkClick r:id="rId3"/>
              </a:rPr>
              <a:t>https://github.com/mdimran2211/FinSpark-hackathon-26</a:t>
            </a:r>
            <a:endParaRPr lang="en-IN" sz="1200"/>
          </a:p>
        </p:txBody>
      </p:sp>
      <p:pic>
        <p:nvPicPr>
          <p:cNvPr id="8" name="Picture 7">
            <a:extLst>
              <a:ext uri="{FF2B5EF4-FFF2-40B4-BE49-F238E27FC236}">
                <a16:creationId xmlns:a16="http://schemas.microsoft.com/office/drawing/2014/main" id="{85097B6F-0882-7D10-5BAA-7BB0E5EF5C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219" y="2971800"/>
            <a:ext cx="5791200" cy="3249930"/>
          </a:xfrm>
          <a:prstGeom prst="rect">
            <a:avLst/>
          </a:prstGeom>
        </p:spPr>
      </p:pic>
      <p:pic>
        <p:nvPicPr>
          <p:cNvPr id="13" name="Picture 12">
            <a:extLst>
              <a:ext uri="{FF2B5EF4-FFF2-40B4-BE49-F238E27FC236}">
                <a16:creationId xmlns:a16="http://schemas.microsoft.com/office/drawing/2014/main" id="{E467646C-0B5F-D80D-E3E9-C6E8DFF5BE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77000" y="2667000"/>
            <a:ext cx="5715000" cy="37909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90170">
              <a:lnSpc>
                <a:spcPct val="100000"/>
              </a:lnSpc>
              <a:spcBef>
                <a:spcPts val="100"/>
              </a:spcBef>
            </a:pPr>
            <a:r>
              <a:rPr spc="55"/>
              <a:t>Business</a:t>
            </a:r>
            <a:r>
              <a:rPr spc="85"/>
              <a:t> </a:t>
            </a:r>
            <a:r>
              <a:t>Potential</a:t>
            </a:r>
            <a:r>
              <a:rPr spc="100"/>
              <a:t> </a:t>
            </a:r>
            <a:r>
              <a:t>and</a:t>
            </a:r>
            <a:r>
              <a:rPr spc="85"/>
              <a:t> </a:t>
            </a:r>
            <a:r>
              <a:rPr spc="-10"/>
              <a:t>Relevance</a:t>
            </a:r>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4" name="object 4"/>
          <p:cNvSpPr txBox="1"/>
          <p:nvPr/>
        </p:nvSpPr>
        <p:spPr>
          <a:xfrm>
            <a:off x="457200" y="1219201"/>
            <a:ext cx="7924800" cy="5534849"/>
          </a:xfrm>
          <a:prstGeom prst="rect">
            <a:avLst/>
          </a:prstGeom>
        </p:spPr>
        <p:txBody>
          <a:bodyPr vert="horz" wrap="square" lIns="0" tIns="12700" rIns="0" bIns="0" rtlCol="0">
            <a:spAutoFit/>
          </a:bodyPr>
          <a:lstStyle/>
          <a:p>
            <a:r>
              <a:rPr lang="en-IN" sz="2000" b="1"/>
              <a:t>Real-World Use Cases:</a:t>
            </a:r>
          </a:p>
          <a:p>
            <a:pPr marL="342900" indent="-342900">
              <a:buFont typeface="Arial" panose="020B0604020202020204" pitchFamily="34" charset="0"/>
              <a:buChar char="•"/>
            </a:pPr>
            <a:r>
              <a:rPr lang="en-IN"/>
              <a:t>Protect banks from insider threats and privileged account misuse </a:t>
            </a:r>
          </a:p>
          <a:p>
            <a:pPr marL="342900" indent="-342900">
              <a:buFont typeface="Arial" panose="020B0604020202020204" pitchFamily="34" charset="0"/>
              <a:buChar char="•"/>
            </a:pPr>
            <a:r>
              <a:rPr lang="en-IN"/>
              <a:t>Secure sensitive customer and financial data </a:t>
            </a:r>
          </a:p>
          <a:p>
            <a:pPr marL="342900" indent="-342900">
              <a:buFont typeface="Arial" panose="020B0604020202020204" pitchFamily="34" charset="0"/>
              <a:buChar char="•"/>
            </a:pPr>
            <a:r>
              <a:rPr lang="en-IN"/>
              <a:t>Help security teams detect and respond to threats in real time </a:t>
            </a:r>
          </a:p>
          <a:p>
            <a:pPr marL="342900" indent="-342900">
              <a:buFont typeface="Arial" panose="020B0604020202020204" pitchFamily="34" charset="0"/>
              <a:buChar char="•"/>
            </a:pPr>
            <a:r>
              <a:rPr lang="en-IN"/>
              <a:t>Support compliance with banking security standards</a:t>
            </a:r>
          </a:p>
          <a:p>
            <a:pPr marL="342900" indent="-342900">
              <a:buFont typeface="Arial" panose="020B0604020202020204" pitchFamily="34" charset="0"/>
              <a:buChar char="•"/>
            </a:pPr>
            <a:endParaRPr lang="en-IN"/>
          </a:p>
          <a:p>
            <a:r>
              <a:rPr lang="en-IN" b="1"/>
              <a:t>Future Expansion:</a:t>
            </a:r>
          </a:p>
          <a:p>
            <a:pPr marL="285750" indent="-285750">
              <a:buFont typeface="Arial" panose="020B0604020202020204" pitchFamily="34" charset="0"/>
              <a:buChar char="•"/>
            </a:pPr>
            <a:r>
              <a:rPr lang="en-IN"/>
              <a:t>Connect with SIEM, IAM, and cloud security platforms </a:t>
            </a:r>
          </a:p>
          <a:p>
            <a:pPr marL="285750" indent="-285750">
              <a:buFont typeface="Arial" panose="020B0604020202020204" pitchFamily="34" charset="0"/>
              <a:buChar char="•"/>
            </a:pPr>
            <a:r>
              <a:rPr lang="en-IN"/>
              <a:t>Support multiple banks through a single platform </a:t>
            </a:r>
          </a:p>
          <a:p>
            <a:pPr marL="285750" indent="-285750">
              <a:buFont typeface="Arial" panose="020B0604020202020204" pitchFamily="34" charset="0"/>
              <a:buChar char="•"/>
            </a:pPr>
            <a:r>
              <a:rPr lang="en-IN"/>
              <a:t>Add advanced AI models for smarter threat detection </a:t>
            </a:r>
          </a:p>
          <a:p>
            <a:pPr marL="285750" indent="-285750">
              <a:buFont typeface="Arial" panose="020B0604020202020204" pitchFamily="34" charset="0"/>
              <a:buChar char="•"/>
            </a:pPr>
            <a:r>
              <a:rPr lang="en-IN"/>
              <a:t>Expand to healthcare, insurance, and government sectors</a:t>
            </a:r>
          </a:p>
          <a:p>
            <a:endParaRPr lang="en-IN"/>
          </a:p>
          <a:p>
            <a:r>
              <a:rPr lang="en-IN" sz="2000" b="1"/>
              <a:t>Long-Term Value:</a:t>
            </a:r>
          </a:p>
          <a:p>
            <a:pPr marL="285750" indent="-285750">
              <a:buFont typeface="Arial" panose="020B0604020202020204" pitchFamily="34" charset="0"/>
              <a:buChar char="•"/>
            </a:pPr>
            <a:r>
              <a:rPr lang="en-IN"/>
              <a:t>Reduces financial losses caused by insider attacks </a:t>
            </a:r>
          </a:p>
          <a:p>
            <a:pPr marL="285750" indent="-285750">
              <a:buFont typeface="Arial" panose="020B0604020202020204" pitchFamily="34" charset="0"/>
              <a:buChar char="•"/>
            </a:pPr>
            <a:r>
              <a:rPr lang="en-IN"/>
              <a:t>Builds customer trust with stronger security </a:t>
            </a:r>
          </a:p>
          <a:p>
            <a:pPr marL="285750" indent="-285750">
              <a:buFont typeface="Arial" panose="020B0604020202020204" pitchFamily="34" charset="0"/>
              <a:buChar char="•"/>
            </a:pPr>
            <a:r>
              <a:rPr lang="en-IN"/>
              <a:t>Future-ready with Quantum-Proof Cryptography (QPC) </a:t>
            </a:r>
          </a:p>
          <a:p>
            <a:pPr marL="285750" indent="-285750">
              <a:buFont typeface="Arial" panose="020B0604020202020204" pitchFamily="34" charset="0"/>
              <a:buChar char="•"/>
            </a:pPr>
            <a:r>
              <a:rPr lang="en-IN"/>
              <a:t>Scales easily as organizations and users grow</a:t>
            </a:r>
          </a:p>
          <a:p>
            <a:pPr marL="285750" indent="-285750">
              <a:buFont typeface="Arial" panose="020B0604020202020204" pitchFamily="34" charset="0"/>
              <a:buChar char="•"/>
            </a:pPr>
            <a:endParaRPr lang="en-IN"/>
          </a:p>
          <a:p>
            <a:pPr marL="12700" marR="5080">
              <a:lnSpc>
                <a:spcPct val="100000"/>
              </a:lnSpc>
              <a:spcBef>
                <a:spcPts val="100"/>
              </a:spcBef>
            </a:pPr>
            <a:endParaRPr sz="2000">
              <a:latin typeface="Arial MT"/>
              <a:cs typeface="Arial MT"/>
            </a:endParaRPr>
          </a:p>
        </p:txBody>
      </p:sp>
      <p:sp>
        <p:nvSpPr>
          <p:cNvPr id="9" name="Rectangle: Rounded Corners 8">
            <a:extLst>
              <a:ext uri="{FF2B5EF4-FFF2-40B4-BE49-F238E27FC236}">
                <a16:creationId xmlns:a16="http://schemas.microsoft.com/office/drawing/2014/main" id="{EC7063A5-AF88-DA28-835B-2EB9B75A9EC7}"/>
              </a:ext>
            </a:extLst>
          </p:cNvPr>
          <p:cNvSpPr/>
          <p:nvPr/>
        </p:nvSpPr>
        <p:spPr>
          <a:xfrm>
            <a:off x="8305800" y="1117942"/>
            <a:ext cx="3429000" cy="52828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a:t>Today</a:t>
            </a:r>
          </a:p>
          <a:p>
            <a:pPr algn="ctr"/>
            <a:r>
              <a:rPr lang="en-IN" sz="1600"/>
              <a:t>  │</a:t>
            </a:r>
          </a:p>
          <a:p>
            <a:pPr algn="ctr"/>
            <a:r>
              <a:rPr lang="en-IN" sz="1600"/>
              <a:t>  ▼</a:t>
            </a:r>
          </a:p>
          <a:p>
            <a:pPr algn="ctr"/>
            <a:r>
              <a:rPr lang="en-IN" sz="1600"/>
              <a:t>🏦 Banking Security</a:t>
            </a:r>
          </a:p>
          <a:p>
            <a:pPr algn="ctr"/>
            <a:r>
              <a:rPr lang="en-IN" sz="1600"/>
              <a:t>  │</a:t>
            </a:r>
          </a:p>
          <a:p>
            <a:pPr algn="ctr"/>
            <a:r>
              <a:rPr lang="en-IN" sz="1600"/>
              <a:t>  ▼</a:t>
            </a:r>
          </a:p>
          <a:p>
            <a:pPr algn="ctr"/>
            <a:r>
              <a:rPr lang="en-IN" sz="1600"/>
              <a:t>🏢 Multi-Branch Banks</a:t>
            </a:r>
          </a:p>
          <a:p>
            <a:pPr algn="ctr"/>
            <a:r>
              <a:rPr lang="en-IN" sz="1600"/>
              <a:t>  │</a:t>
            </a:r>
          </a:p>
          <a:p>
            <a:pPr algn="ctr"/>
            <a:r>
              <a:rPr lang="en-IN" sz="1600"/>
              <a:t>  ▼</a:t>
            </a:r>
          </a:p>
          <a:p>
            <a:pPr algn="ctr"/>
            <a:r>
              <a:rPr lang="en-IN" sz="1600"/>
              <a:t>🌐 Multi-Bank Platform</a:t>
            </a:r>
          </a:p>
          <a:p>
            <a:pPr algn="ctr"/>
            <a:r>
              <a:rPr lang="en-IN" sz="1600"/>
              <a:t>  │</a:t>
            </a:r>
          </a:p>
          <a:p>
            <a:pPr algn="ctr"/>
            <a:r>
              <a:rPr lang="en-IN" sz="1600"/>
              <a:t>  ▼</a:t>
            </a:r>
          </a:p>
          <a:p>
            <a:pPr algn="ctr"/>
            <a:r>
              <a:rPr lang="en-IN" sz="1600"/>
              <a:t>🏥 Healthcare</a:t>
            </a:r>
          </a:p>
          <a:p>
            <a:pPr algn="ctr"/>
            <a:r>
              <a:rPr lang="en-IN" sz="1600"/>
              <a:t>  │</a:t>
            </a:r>
          </a:p>
          <a:p>
            <a:pPr algn="ctr"/>
            <a:r>
              <a:rPr lang="en-IN" sz="1600"/>
              <a:t>  ▼</a:t>
            </a:r>
          </a:p>
          <a:p>
            <a:pPr algn="ctr"/>
            <a:r>
              <a:rPr lang="en-IN" sz="1600"/>
              <a:t>🏛 Government</a:t>
            </a:r>
          </a:p>
          <a:p>
            <a:pPr algn="ctr"/>
            <a:r>
              <a:rPr lang="en-IN" sz="1600"/>
              <a:t>  │</a:t>
            </a:r>
          </a:p>
          <a:p>
            <a:pPr algn="ctr"/>
            <a:r>
              <a:rPr lang="en-IN" sz="1600"/>
              <a:t>  ▼</a:t>
            </a:r>
          </a:p>
          <a:p>
            <a:pPr algn="ctr"/>
            <a:r>
              <a:rPr lang="en-IN" sz="1600"/>
              <a:t>🌍 Global Enterprise Security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381000" y="665187"/>
            <a:ext cx="11460326" cy="452755"/>
          </a:xfrm>
          <a:prstGeom prst="rect">
            <a:avLst/>
          </a:prstGeom>
        </p:spPr>
        <p:txBody>
          <a:bodyPr vert="horz" wrap="square" lIns="0" tIns="12700" rIns="0" bIns="0" rtlCol="0">
            <a:spAutoFit/>
          </a:bodyPr>
          <a:lstStyle/>
          <a:p>
            <a:pPr marL="102235">
              <a:lnSpc>
                <a:spcPct val="100000"/>
              </a:lnSpc>
              <a:spcBef>
                <a:spcPts val="100"/>
              </a:spcBef>
            </a:pPr>
            <a:r>
              <a:t>Uniqueness</a:t>
            </a:r>
            <a:r>
              <a:rPr spc="90"/>
              <a:t> </a:t>
            </a:r>
            <a:r>
              <a:rPr spc="60"/>
              <a:t>of</a:t>
            </a:r>
            <a:r>
              <a:rPr spc="350"/>
              <a:t> </a:t>
            </a:r>
            <a:r>
              <a:rPr spc="45"/>
              <a:t>Approach</a:t>
            </a:r>
            <a:r>
              <a:rPr spc="95"/>
              <a:t> </a:t>
            </a:r>
            <a:r>
              <a:t>and</a:t>
            </a:r>
            <a:r>
              <a:rPr spc="95"/>
              <a:t> </a:t>
            </a:r>
            <a:r>
              <a:rPr spc="40"/>
              <a:t>Solution</a:t>
            </a:r>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5" name="TextBox 4">
            <a:extLst>
              <a:ext uri="{FF2B5EF4-FFF2-40B4-BE49-F238E27FC236}">
                <a16:creationId xmlns:a16="http://schemas.microsoft.com/office/drawing/2014/main" id="{CC7A65F0-317C-EFA8-17D5-24947826551D}"/>
              </a:ext>
            </a:extLst>
          </p:cNvPr>
          <p:cNvSpPr txBox="1"/>
          <p:nvPr/>
        </p:nvSpPr>
        <p:spPr>
          <a:xfrm>
            <a:off x="632528" y="2819400"/>
            <a:ext cx="5715000" cy="523220"/>
          </a:xfrm>
          <a:prstGeom prst="rect">
            <a:avLst/>
          </a:prstGeom>
          <a:noFill/>
        </p:spPr>
        <p:txBody>
          <a:bodyPr wrap="square" rtlCol="0">
            <a:spAutoFit/>
          </a:bodyPr>
          <a:lstStyle/>
          <a:p>
            <a:r>
              <a:rPr lang="en-IN" sz="2800">
                <a:solidFill>
                  <a:srgbClr val="205767"/>
                </a:solidFill>
              </a:rPr>
              <a:t>Key Innovations</a:t>
            </a:r>
          </a:p>
        </p:txBody>
      </p:sp>
      <p:sp>
        <p:nvSpPr>
          <p:cNvPr id="7" name="TextBox 6">
            <a:extLst>
              <a:ext uri="{FF2B5EF4-FFF2-40B4-BE49-F238E27FC236}">
                <a16:creationId xmlns:a16="http://schemas.microsoft.com/office/drawing/2014/main" id="{2B62BCE6-3096-48AB-D1C5-744CE63E069B}"/>
              </a:ext>
            </a:extLst>
          </p:cNvPr>
          <p:cNvSpPr txBox="1"/>
          <p:nvPr/>
        </p:nvSpPr>
        <p:spPr>
          <a:xfrm>
            <a:off x="632528" y="3342620"/>
            <a:ext cx="8816272" cy="1754326"/>
          </a:xfrm>
          <a:prstGeom prst="rect">
            <a:avLst/>
          </a:prstGeom>
          <a:noFill/>
        </p:spPr>
        <p:txBody>
          <a:bodyPr wrap="square" rtlCol="0">
            <a:spAutoFit/>
          </a:bodyPr>
          <a:lstStyle/>
          <a:p>
            <a:pPr marL="285750" indent="-285750">
              <a:buFont typeface="Arial" panose="020B0604020202020204" pitchFamily="34" charset="0"/>
              <a:buChar char="•"/>
            </a:pPr>
            <a:r>
              <a:rPr lang="en-IN" err="1"/>
              <a:t>Behavioral</a:t>
            </a:r>
            <a:r>
              <a:rPr lang="en-IN"/>
              <a:t> AI tailored to individual users.</a:t>
            </a:r>
          </a:p>
          <a:p>
            <a:pPr marL="285750" indent="-285750">
              <a:buFont typeface="Arial" panose="020B0604020202020204" pitchFamily="34" charset="0"/>
              <a:buChar char="•"/>
            </a:pPr>
            <a:r>
              <a:rPr lang="en-IN"/>
              <a:t>Explainable AI for transparent decision-making.</a:t>
            </a:r>
          </a:p>
          <a:p>
            <a:pPr marL="285750" indent="-285750">
              <a:buFont typeface="Arial" panose="020B0604020202020204" pitchFamily="34" charset="0"/>
              <a:buChar char="•"/>
            </a:pPr>
            <a:r>
              <a:rPr lang="en-IN"/>
              <a:t>Hybrid risk scoring using machine learning and expert rules.</a:t>
            </a:r>
          </a:p>
          <a:p>
            <a:pPr marL="285750" indent="-285750">
              <a:buFont typeface="Arial" panose="020B0604020202020204" pitchFamily="34" charset="0"/>
              <a:buChar char="•"/>
            </a:pPr>
            <a:r>
              <a:rPr lang="en-IN"/>
              <a:t>Automated threat containment.</a:t>
            </a:r>
          </a:p>
          <a:p>
            <a:pPr marL="285750" indent="-285750">
              <a:buFont typeface="Arial" panose="020B0604020202020204" pitchFamily="34" charset="0"/>
              <a:buChar char="•"/>
            </a:pPr>
            <a:r>
              <a:rPr lang="en-IN"/>
              <a:t>Live attack simulation environment.</a:t>
            </a:r>
          </a:p>
          <a:p>
            <a:pPr marL="285750" indent="-285750">
              <a:buFont typeface="Arial" panose="020B0604020202020204" pitchFamily="34" charset="0"/>
              <a:buChar char="•"/>
            </a:pPr>
            <a:r>
              <a:rPr lang="en-IN"/>
              <a:t>Post-Quantum Cryptography for tamper-resistant audit logs.</a:t>
            </a:r>
          </a:p>
        </p:txBody>
      </p:sp>
      <p:sp>
        <p:nvSpPr>
          <p:cNvPr id="9" name="Arrow: Right 8">
            <a:extLst>
              <a:ext uri="{FF2B5EF4-FFF2-40B4-BE49-F238E27FC236}">
                <a16:creationId xmlns:a16="http://schemas.microsoft.com/office/drawing/2014/main" id="{9C6A359F-03A8-09DF-7A9F-0A1760E8669E}"/>
              </a:ext>
            </a:extLst>
          </p:cNvPr>
          <p:cNvSpPr/>
          <p:nvPr/>
        </p:nvSpPr>
        <p:spPr>
          <a:xfrm>
            <a:off x="403928" y="1447800"/>
            <a:ext cx="228600" cy="511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597A34F-9FBF-617D-E84E-9D833FE9CDAB}"/>
              </a:ext>
            </a:extLst>
          </p:cNvPr>
          <p:cNvSpPr txBox="1"/>
          <p:nvPr/>
        </p:nvSpPr>
        <p:spPr>
          <a:xfrm>
            <a:off x="685800" y="1295400"/>
            <a:ext cx="11332082" cy="1754326"/>
          </a:xfrm>
          <a:prstGeom prst="rect">
            <a:avLst/>
          </a:prstGeom>
          <a:noFill/>
        </p:spPr>
        <p:txBody>
          <a:bodyPr wrap="square" rtlCol="0">
            <a:spAutoFit/>
          </a:bodyPr>
          <a:lstStyle/>
          <a:p>
            <a:r>
              <a:rPr lang="en-IN"/>
              <a:t>Unlike traditional security systems that rely on fixed rules, </a:t>
            </a:r>
            <a:r>
              <a:rPr lang="en-IN" err="1"/>
              <a:t>QuantumShield</a:t>
            </a:r>
            <a:r>
              <a:rPr lang="en-IN"/>
              <a:t> AI continuously learns normal user </a:t>
            </a:r>
            <a:r>
              <a:rPr lang="en-IN" err="1"/>
              <a:t>behavior</a:t>
            </a:r>
            <a:r>
              <a:rPr lang="en-IN"/>
              <a:t> and identifies unusual activities using machine learning. It explains every alert with Explainable AI (SHAP), helping security teams understand why a user is flagged as risky. As user </a:t>
            </a:r>
            <a:r>
              <a:rPr lang="en-IN" err="1"/>
              <a:t>behavior</a:t>
            </a:r>
            <a:r>
              <a:rPr lang="en-IN"/>
              <a:t> changes over time, the platform adapts to new threats, making insider threat detection more accurate, transparent, and reliable.</a:t>
            </a:r>
          </a:p>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37795">
              <a:lnSpc>
                <a:spcPct val="100000"/>
              </a:lnSpc>
              <a:spcBef>
                <a:spcPts val="100"/>
              </a:spcBef>
            </a:pPr>
            <a:r>
              <a:t>User</a:t>
            </a:r>
            <a:r>
              <a:rPr spc="50"/>
              <a:t> </a:t>
            </a:r>
            <a:r>
              <a:rPr spc="-10"/>
              <a:t>Experience</a:t>
            </a:r>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4" name="object 4"/>
          <p:cNvSpPr txBox="1"/>
          <p:nvPr/>
        </p:nvSpPr>
        <p:spPr>
          <a:xfrm>
            <a:off x="356654" y="1240815"/>
            <a:ext cx="5282146" cy="1736373"/>
          </a:xfrm>
          <a:prstGeom prst="rect">
            <a:avLst/>
          </a:prstGeom>
        </p:spPr>
        <p:txBody>
          <a:bodyPr vert="horz" wrap="square" lIns="0" tIns="12700" rIns="0" bIns="0" rtlCol="0">
            <a:spAutoFit/>
          </a:bodyPr>
          <a:lstStyle/>
          <a:p>
            <a:pPr marL="12700" marR="5080">
              <a:lnSpc>
                <a:spcPct val="100000"/>
              </a:lnSpc>
              <a:spcBef>
                <a:spcPts val="100"/>
              </a:spcBef>
            </a:pPr>
            <a:r>
              <a:rPr lang="en-IN" sz="1600" err="1"/>
              <a:t>QuantumShield</a:t>
            </a:r>
            <a:r>
              <a:rPr lang="en-IN" sz="1600"/>
              <a:t> AI is designed with a simple and intuitive interface that enables security teams to monitor privileged users, identify insider threats, and take immediate action. The dashboard provides real-time alerts, AI-powered explanations, and risk scores, allowing analysts to make informed decisions quickly without complex manual investigation.</a:t>
            </a:r>
            <a:endParaRPr sz="1600">
              <a:latin typeface="Arial MT"/>
              <a:cs typeface="Arial MT"/>
            </a:endParaRPr>
          </a:p>
        </p:txBody>
      </p:sp>
      <p:sp>
        <p:nvSpPr>
          <p:cNvPr id="5" name="Rectangle 4">
            <a:extLst>
              <a:ext uri="{FF2B5EF4-FFF2-40B4-BE49-F238E27FC236}">
                <a16:creationId xmlns:a16="http://schemas.microsoft.com/office/drawing/2014/main" id="{C430935A-AA3A-9F38-FE94-453CFF6EA119}"/>
              </a:ext>
            </a:extLst>
          </p:cNvPr>
          <p:cNvSpPr/>
          <p:nvPr/>
        </p:nvSpPr>
        <p:spPr>
          <a:xfrm>
            <a:off x="2133600" y="2895600"/>
            <a:ext cx="2744122" cy="3721997"/>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t> </a:t>
            </a:r>
            <a:r>
              <a:rPr lang="en-IN" sz="1100"/>
              <a:t>🔐 Login</a:t>
            </a:r>
          </a:p>
          <a:p>
            <a:pPr algn="ctr"/>
            <a:r>
              <a:rPr lang="en-IN" sz="1100"/>
              <a:t>           │</a:t>
            </a:r>
          </a:p>
          <a:p>
            <a:pPr algn="ctr"/>
            <a:r>
              <a:rPr lang="en-IN" sz="1100"/>
              <a:t>           ▼</a:t>
            </a:r>
          </a:p>
          <a:p>
            <a:pPr algn="ctr"/>
            <a:r>
              <a:rPr lang="en-IN" sz="1100"/>
              <a:t>📊 Open Security Dashboard</a:t>
            </a:r>
          </a:p>
          <a:p>
            <a:pPr algn="ctr"/>
            <a:r>
              <a:rPr lang="en-IN" sz="1100"/>
              <a:t>           │</a:t>
            </a:r>
          </a:p>
          <a:p>
            <a:pPr algn="ctr"/>
            <a:r>
              <a:rPr lang="en-IN" sz="1100"/>
              <a:t>           ▼</a:t>
            </a:r>
          </a:p>
          <a:p>
            <a:pPr algn="ctr"/>
            <a:r>
              <a:rPr lang="en-IN" sz="1100"/>
              <a:t>👥 Monitor Users &amp; Live Activities</a:t>
            </a:r>
          </a:p>
          <a:p>
            <a:pPr algn="ctr"/>
            <a:r>
              <a:rPr lang="en-IN" sz="1100"/>
              <a:t>           │</a:t>
            </a:r>
          </a:p>
          <a:p>
            <a:pPr algn="ctr"/>
            <a:r>
              <a:rPr lang="en-IN" sz="1100"/>
              <a:t>           ▼</a:t>
            </a:r>
          </a:p>
          <a:p>
            <a:pPr algn="ctr"/>
            <a:r>
              <a:rPr lang="en-IN" sz="1100"/>
              <a:t>🤖 AI Detects Suspicious Behaviour</a:t>
            </a:r>
          </a:p>
          <a:p>
            <a:pPr algn="ctr"/>
            <a:r>
              <a:rPr lang="en-IN" sz="1100"/>
              <a:t>           │</a:t>
            </a:r>
          </a:p>
          <a:p>
            <a:pPr algn="ctr"/>
            <a:r>
              <a:rPr lang="en-IN" sz="1100"/>
              <a:t>           ▼</a:t>
            </a:r>
          </a:p>
          <a:p>
            <a:pPr algn="ctr"/>
            <a:r>
              <a:rPr lang="en-IN" sz="1100"/>
              <a:t>📈 View Risk Score &amp; SHAP Explanation</a:t>
            </a:r>
          </a:p>
          <a:p>
            <a:pPr algn="ctr"/>
            <a:r>
              <a:rPr lang="en-IN" sz="1100"/>
              <a:t>           │</a:t>
            </a:r>
          </a:p>
          <a:p>
            <a:pPr algn="ctr"/>
            <a:r>
              <a:rPr lang="en-IN" sz="1100"/>
              <a:t>           ▼</a:t>
            </a:r>
          </a:p>
          <a:p>
            <a:pPr algn="ctr"/>
            <a:r>
              <a:rPr lang="en-IN" sz="1100"/>
              <a:t>🚨 Receive Real-Time Alert</a:t>
            </a:r>
          </a:p>
          <a:p>
            <a:pPr algn="ctr"/>
            <a:r>
              <a:rPr lang="en-IN" sz="1100"/>
              <a:t>           │</a:t>
            </a:r>
          </a:p>
          <a:p>
            <a:pPr algn="ctr"/>
            <a:r>
              <a:rPr lang="en-IN" sz="1100"/>
              <a:t>           ▼</a:t>
            </a:r>
          </a:p>
          <a:p>
            <a:pPr algn="ctr"/>
            <a:r>
              <a:rPr lang="en-IN" sz="1100"/>
              <a:t>🛡 Take Action</a:t>
            </a:r>
          </a:p>
          <a:p>
            <a:pPr algn="ctr"/>
            <a:r>
              <a:rPr lang="en-IN" sz="1100"/>
              <a:t>(Lock Account / Investigate / Resolve)</a:t>
            </a:r>
          </a:p>
        </p:txBody>
      </p:sp>
      <p:pic>
        <p:nvPicPr>
          <p:cNvPr id="7" name="Picture 6">
            <a:extLst>
              <a:ext uri="{FF2B5EF4-FFF2-40B4-BE49-F238E27FC236}">
                <a16:creationId xmlns:a16="http://schemas.microsoft.com/office/drawing/2014/main" id="{1583D0DC-0195-EA32-F687-2CE8BFCA8A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7097" y="533400"/>
            <a:ext cx="5562600" cy="2971800"/>
          </a:xfrm>
          <a:prstGeom prst="rect">
            <a:avLst/>
          </a:prstGeom>
        </p:spPr>
      </p:pic>
      <p:pic>
        <p:nvPicPr>
          <p:cNvPr id="9" name="Picture 8">
            <a:extLst>
              <a:ext uri="{FF2B5EF4-FFF2-40B4-BE49-F238E27FC236}">
                <a16:creationId xmlns:a16="http://schemas.microsoft.com/office/drawing/2014/main" id="{9C50D102-AAD8-D889-0E00-F767EE0F13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1282" y="3581400"/>
            <a:ext cx="5669127" cy="2743200"/>
          </a:xfrm>
          <a:prstGeom prst="rect">
            <a:avLst/>
          </a:prstGeom>
        </p:spPr>
      </p:pic>
      <p:sp>
        <p:nvSpPr>
          <p:cNvPr id="10" name="TextBox 9">
            <a:extLst>
              <a:ext uri="{FF2B5EF4-FFF2-40B4-BE49-F238E27FC236}">
                <a16:creationId xmlns:a16="http://schemas.microsoft.com/office/drawing/2014/main" id="{94D75806-609C-03EC-25FA-9A5B6F0A3C14}"/>
              </a:ext>
            </a:extLst>
          </p:cNvPr>
          <p:cNvSpPr txBox="1"/>
          <p:nvPr/>
        </p:nvSpPr>
        <p:spPr>
          <a:xfrm>
            <a:off x="7848600" y="6400800"/>
            <a:ext cx="3657600" cy="369332"/>
          </a:xfrm>
          <a:prstGeom prst="rect">
            <a:avLst/>
          </a:prstGeom>
          <a:noFill/>
        </p:spPr>
        <p:txBody>
          <a:bodyPr wrap="square" rtlCol="0">
            <a:spAutoFit/>
          </a:bodyPr>
          <a:lstStyle/>
          <a:p>
            <a:r>
              <a:rPr lang="en-US"/>
              <a:t>Live alert Dashboard</a:t>
            </a: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357022" y="665186"/>
            <a:ext cx="11484305" cy="443711"/>
          </a:xfrm>
          <a:prstGeom prst="rect">
            <a:avLst/>
          </a:prstGeom>
        </p:spPr>
        <p:txBody>
          <a:bodyPr vert="horz" wrap="square" lIns="0" tIns="12700" rIns="0" bIns="0" rtlCol="0">
            <a:spAutoFit/>
          </a:bodyPr>
          <a:lstStyle/>
          <a:p>
            <a:pPr marL="102235">
              <a:lnSpc>
                <a:spcPct val="100000"/>
              </a:lnSpc>
              <a:spcBef>
                <a:spcPts val="100"/>
              </a:spcBef>
            </a:pPr>
            <a:r>
              <a:rPr spc="35"/>
              <a:t>Scalability</a:t>
            </a:r>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4" name="object 4"/>
          <p:cNvSpPr txBox="1"/>
          <p:nvPr/>
        </p:nvSpPr>
        <p:spPr>
          <a:xfrm>
            <a:off x="356654" y="1240815"/>
            <a:ext cx="11225746" cy="320601"/>
          </a:xfrm>
          <a:prstGeom prst="rect">
            <a:avLst/>
          </a:prstGeom>
        </p:spPr>
        <p:txBody>
          <a:bodyPr vert="horz" wrap="square" lIns="0" tIns="12700" rIns="0" bIns="0" rtlCol="0">
            <a:spAutoFit/>
          </a:bodyPr>
          <a:lstStyle/>
          <a:p>
            <a:pPr marL="12700" marR="5080">
              <a:lnSpc>
                <a:spcPct val="100000"/>
              </a:lnSpc>
              <a:spcBef>
                <a:spcPts val="100"/>
              </a:spcBef>
            </a:pPr>
            <a:r>
              <a:rPr lang="en-IN" sz="2000"/>
              <a:t>  </a:t>
            </a:r>
            <a:r>
              <a:rPr lang="en-IN" sz="2000" err="1"/>
              <a:t>QuantumShield</a:t>
            </a:r>
            <a:r>
              <a:rPr lang="en-IN" sz="2000"/>
              <a:t> AI is built using a modular architecture that supports future growth.</a:t>
            </a:r>
            <a:endParaRPr sz="2000">
              <a:latin typeface="Arial MT"/>
              <a:cs typeface="Arial MT"/>
            </a:endParaRPr>
          </a:p>
        </p:txBody>
      </p:sp>
      <p:sp>
        <p:nvSpPr>
          <p:cNvPr id="5" name="TextBox 4">
            <a:extLst>
              <a:ext uri="{FF2B5EF4-FFF2-40B4-BE49-F238E27FC236}">
                <a16:creationId xmlns:a16="http://schemas.microsoft.com/office/drawing/2014/main" id="{FE83C257-6A91-414A-F874-953D2A4E8AC5}"/>
              </a:ext>
            </a:extLst>
          </p:cNvPr>
          <p:cNvSpPr txBox="1"/>
          <p:nvPr/>
        </p:nvSpPr>
        <p:spPr>
          <a:xfrm>
            <a:off x="304800" y="1752600"/>
            <a:ext cx="3886200" cy="461665"/>
          </a:xfrm>
          <a:prstGeom prst="rect">
            <a:avLst/>
          </a:prstGeom>
          <a:noFill/>
        </p:spPr>
        <p:txBody>
          <a:bodyPr wrap="square" rtlCol="0">
            <a:spAutoFit/>
          </a:bodyPr>
          <a:lstStyle/>
          <a:p>
            <a:r>
              <a:rPr lang="en-IN" sz="2400">
                <a:solidFill>
                  <a:schemeClr val="tx1">
                    <a:lumMod val="95000"/>
                    <a:lumOff val="5000"/>
                  </a:schemeClr>
                </a:solidFill>
              </a:rPr>
              <a:t> </a:t>
            </a:r>
            <a:r>
              <a:rPr lang="en-IN" sz="2400">
                <a:solidFill>
                  <a:schemeClr val="bg2">
                    <a:lumMod val="10000"/>
                  </a:schemeClr>
                </a:solidFill>
              </a:rPr>
              <a:t>The platform is capable of:</a:t>
            </a:r>
          </a:p>
        </p:txBody>
      </p:sp>
      <p:sp>
        <p:nvSpPr>
          <p:cNvPr id="7" name="TextBox 6">
            <a:extLst>
              <a:ext uri="{FF2B5EF4-FFF2-40B4-BE49-F238E27FC236}">
                <a16:creationId xmlns:a16="http://schemas.microsoft.com/office/drawing/2014/main" id="{27F8868C-CE2C-4469-737F-353E0E53CB57}"/>
              </a:ext>
            </a:extLst>
          </p:cNvPr>
          <p:cNvSpPr txBox="1"/>
          <p:nvPr/>
        </p:nvSpPr>
        <p:spPr>
          <a:xfrm>
            <a:off x="480251" y="2514600"/>
            <a:ext cx="5844349" cy="2308324"/>
          </a:xfrm>
          <a:prstGeom prst="rect">
            <a:avLst/>
          </a:prstGeom>
          <a:noFill/>
        </p:spPr>
        <p:txBody>
          <a:bodyPr wrap="square" rtlCol="0">
            <a:spAutoFit/>
          </a:bodyPr>
          <a:lstStyle/>
          <a:p>
            <a:pPr marL="285750" indent="-285750">
              <a:buFont typeface="Arial" panose="020B0604020202020204" pitchFamily="34" charset="0"/>
              <a:buChar char="•"/>
            </a:pPr>
            <a:r>
              <a:rPr lang="en-IN"/>
              <a:t>Monitoring thousands of privileged users </a:t>
            </a:r>
          </a:p>
          <a:p>
            <a:pPr marL="285750" indent="-285750">
              <a:buFont typeface="Arial" panose="020B0604020202020204" pitchFamily="34" charset="0"/>
              <a:buChar char="•"/>
            </a:pPr>
            <a:r>
              <a:rPr lang="en-IN"/>
              <a:t>Processing more than 10,000 security events per day </a:t>
            </a:r>
          </a:p>
          <a:p>
            <a:pPr marL="285750" indent="-285750">
              <a:buFont typeface="Arial" panose="020B0604020202020204" pitchFamily="34" charset="0"/>
              <a:buChar char="•"/>
            </a:pPr>
            <a:r>
              <a:rPr lang="en-IN"/>
              <a:t>Supporting hundreds of concurrent users </a:t>
            </a:r>
          </a:p>
          <a:p>
            <a:pPr marL="285750" indent="-285750">
              <a:buFont typeface="Arial" panose="020B0604020202020204" pitchFamily="34" charset="0"/>
              <a:buChar char="•"/>
            </a:pPr>
            <a:r>
              <a:rPr lang="en-IN"/>
              <a:t>Deploying across cloud, hybrid, or on-premises environments </a:t>
            </a:r>
          </a:p>
          <a:p>
            <a:pPr marL="285750" indent="-285750">
              <a:buFont typeface="Arial" panose="020B0604020202020204" pitchFamily="34" charset="0"/>
              <a:buChar char="•"/>
            </a:pPr>
            <a:r>
              <a:rPr lang="en-IN"/>
              <a:t>Integrating with enterprise security platforms </a:t>
            </a:r>
          </a:p>
          <a:p>
            <a:endParaRPr lang="en-IN"/>
          </a:p>
        </p:txBody>
      </p:sp>
      <p:sp>
        <p:nvSpPr>
          <p:cNvPr id="9" name="Rectangle 8">
            <a:extLst>
              <a:ext uri="{FF2B5EF4-FFF2-40B4-BE49-F238E27FC236}">
                <a16:creationId xmlns:a16="http://schemas.microsoft.com/office/drawing/2014/main" id="{B94C8BCB-3B7D-387F-2A62-2824ABD79F3A}"/>
              </a:ext>
            </a:extLst>
          </p:cNvPr>
          <p:cNvSpPr/>
          <p:nvPr/>
        </p:nvSpPr>
        <p:spPr>
          <a:xfrm>
            <a:off x="7467600" y="1981200"/>
            <a:ext cx="3962400" cy="4343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t>         Single Branch</a:t>
            </a:r>
          </a:p>
          <a:p>
            <a:pPr algn="ctr"/>
            <a:r>
              <a:rPr lang="en-US"/>
              <a:t>       │</a:t>
            </a:r>
          </a:p>
          <a:p>
            <a:pPr algn="ctr"/>
            <a:r>
              <a:rPr lang="en-US"/>
              <a:t>       ▼</a:t>
            </a:r>
          </a:p>
          <a:p>
            <a:pPr algn="ctr"/>
            <a:r>
              <a:rPr lang="en-US"/>
              <a:t>       Multi-Branch Banking</a:t>
            </a:r>
          </a:p>
          <a:p>
            <a:pPr algn="ctr"/>
            <a:r>
              <a:rPr lang="en-US"/>
              <a:t>      │</a:t>
            </a:r>
          </a:p>
          <a:p>
            <a:pPr algn="ctr"/>
            <a:r>
              <a:rPr lang="en-US"/>
              <a:t>      ▼</a:t>
            </a:r>
          </a:p>
          <a:p>
            <a:pPr algn="ctr"/>
            <a:r>
              <a:rPr lang="en-US"/>
              <a:t>      Enterprise Banking Network</a:t>
            </a:r>
          </a:p>
          <a:p>
            <a:pPr algn="ctr"/>
            <a:r>
              <a:rPr lang="en-US"/>
              <a:t>       │</a:t>
            </a:r>
          </a:p>
          <a:p>
            <a:pPr algn="ctr"/>
            <a:r>
              <a:rPr lang="en-US"/>
              <a:t>       ▼</a:t>
            </a:r>
          </a:p>
          <a:p>
            <a:pPr algn="ctr"/>
            <a:r>
              <a:rPr lang="en-US"/>
              <a:t>       Hybrid / Cloud Infrastructure</a:t>
            </a:r>
          </a:p>
          <a:p>
            <a:pPr algn="ctr"/>
            <a:r>
              <a:rPr lang="en-US"/>
              <a:t>        │</a:t>
            </a:r>
          </a:p>
          <a:p>
            <a:pPr algn="ctr"/>
            <a:r>
              <a:rPr lang="en-US"/>
              <a:t>        ▼</a:t>
            </a:r>
          </a:p>
          <a:p>
            <a:pPr algn="ctr"/>
            <a:r>
              <a:rPr lang="en-US"/>
              <a:t>         </a:t>
            </a:r>
            <a:r>
              <a:rPr lang="en-US" err="1"/>
              <a:t>QuantumShield</a:t>
            </a:r>
            <a:r>
              <a:rPr lang="en-US"/>
              <a:t> AI Platform</a:t>
            </a:r>
          </a:p>
          <a:p>
            <a:pPr algn="ctr"/>
            <a:r>
              <a:rPr lang="en-US"/>
              <a:t>         (AI + XAI + QPC + Automation)           </a:t>
            </a:r>
            <a:endParaRPr lang="en-IN"/>
          </a:p>
        </p:txBody>
      </p:sp>
      <p:sp>
        <p:nvSpPr>
          <p:cNvPr id="13" name="Arrow: Right 12">
            <a:extLst>
              <a:ext uri="{FF2B5EF4-FFF2-40B4-BE49-F238E27FC236}">
                <a16:creationId xmlns:a16="http://schemas.microsoft.com/office/drawing/2014/main" id="{BD2D8957-F618-31A5-19D2-353C1B5A34F1}"/>
              </a:ext>
            </a:extLst>
          </p:cNvPr>
          <p:cNvSpPr/>
          <p:nvPr/>
        </p:nvSpPr>
        <p:spPr>
          <a:xfrm>
            <a:off x="152400" y="1371600"/>
            <a:ext cx="204254" cy="152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422897" y="723506"/>
            <a:ext cx="6241415" cy="452755"/>
          </a:xfrm>
          <a:prstGeom prst="rect">
            <a:avLst/>
          </a:prstGeom>
        </p:spPr>
        <p:txBody>
          <a:bodyPr vert="horz" wrap="square" lIns="0" tIns="12700" rIns="0" bIns="0" rtlCol="0">
            <a:spAutoFit/>
          </a:bodyPr>
          <a:lstStyle/>
          <a:p>
            <a:pPr marL="12700">
              <a:lnSpc>
                <a:spcPct val="100000"/>
              </a:lnSpc>
              <a:spcBef>
                <a:spcPts val="100"/>
              </a:spcBef>
            </a:pPr>
            <a:r>
              <a:rPr sz="2800">
                <a:solidFill>
                  <a:srgbClr val="205767"/>
                </a:solidFill>
                <a:latin typeface="Arial MT"/>
                <a:cs typeface="Arial MT"/>
              </a:rPr>
              <a:t>Ease</a:t>
            </a:r>
            <a:r>
              <a:rPr sz="2800" spc="90">
                <a:solidFill>
                  <a:srgbClr val="205767"/>
                </a:solidFill>
                <a:latin typeface="Arial MT"/>
                <a:cs typeface="Arial MT"/>
              </a:rPr>
              <a:t> </a:t>
            </a:r>
            <a:r>
              <a:rPr sz="2800" spc="60">
                <a:solidFill>
                  <a:srgbClr val="205767"/>
                </a:solidFill>
                <a:latin typeface="Arial MT"/>
                <a:cs typeface="Arial MT"/>
              </a:rPr>
              <a:t>of</a:t>
            </a:r>
            <a:r>
              <a:rPr sz="2800" spc="340">
                <a:solidFill>
                  <a:srgbClr val="205767"/>
                </a:solidFill>
                <a:latin typeface="Arial MT"/>
                <a:cs typeface="Arial MT"/>
              </a:rPr>
              <a:t> </a:t>
            </a:r>
            <a:r>
              <a:rPr sz="2800">
                <a:solidFill>
                  <a:srgbClr val="205767"/>
                </a:solidFill>
                <a:latin typeface="Arial MT"/>
                <a:cs typeface="Arial MT"/>
              </a:rPr>
              <a:t>Deployment</a:t>
            </a:r>
            <a:r>
              <a:rPr sz="2800" spc="90">
                <a:solidFill>
                  <a:srgbClr val="205767"/>
                </a:solidFill>
                <a:latin typeface="Arial MT"/>
                <a:cs typeface="Arial MT"/>
              </a:rPr>
              <a:t> </a:t>
            </a:r>
            <a:r>
              <a:rPr sz="2800">
                <a:solidFill>
                  <a:srgbClr val="205767"/>
                </a:solidFill>
                <a:latin typeface="Arial MT"/>
                <a:cs typeface="Arial MT"/>
              </a:rPr>
              <a:t>and</a:t>
            </a:r>
            <a:r>
              <a:rPr sz="2800" spc="90">
                <a:solidFill>
                  <a:srgbClr val="205767"/>
                </a:solidFill>
                <a:latin typeface="Arial MT"/>
                <a:cs typeface="Arial MT"/>
              </a:rPr>
              <a:t> </a:t>
            </a:r>
            <a:r>
              <a:rPr sz="2800" spc="-10">
                <a:solidFill>
                  <a:srgbClr val="205767"/>
                </a:solidFill>
                <a:latin typeface="Arial MT"/>
                <a:cs typeface="Arial MT"/>
              </a:rPr>
              <a:t>Maintenance</a:t>
            </a:r>
            <a:endParaRPr sz="2800">
              <a:latin typeface="Arial MT"/>
              <a:cs typeface="Arial MT"/>
            </a:endParaRPr>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4" name="object 4"/>
          <p:cNvSpPr txBox="1"/>
          <p:nvPr/>
        </p:nvSpPr>
        <p:spPr>
          <a:xfrm>
            <a:off x="422897" y="1295400"/>
            <a:ext cx="7959103" cy="5196294"/>
          </a:xfrm>
          <a:prstGeom prst="rect">
            <a:avLst/>
          </a:prstGeom>
        </p:spPr>
        <p:txBody>
          <a:bodyPr vert="horz" wrap="square" lIns="0" tIns="12700" rIns="0" bIns="0" rtlCol="0">
            <a:spAutoFit/>
          </a:bodyPr>
          <a:lstStyle/>
          <a:p>
            <a:r>
              <a:rPr lang="en-IN" sz="1600" b="1"/>
              <a:t>Easy to Implement</a:t>
            </a:r>
          </a:p>
          <a:p>
            <a:pPr marL="285750" indent="-285750">
              <a:buFont typeface="Arial" panose="020B0604020202020204" pitchFamily="34" charset="0"/>
              <a:buChar char="•"/>
            </a:pPr>
            <a:r>
              <a:rPr lang="en-IN" sz="1400"/>
              <a:t>Modular architecture enables quick deployment without changing existing banking systems. </a:t>
            </a:r>
          </a:p>
          <a:p>
            <a:pPr marL="285750" indent="-285750">
              <a:buFont typeface="Arial" panose="020B0604020202020204" pitchFamily="34" charset="0"/>
              <a:buChar char="•"/>
            </a:pPr>
            <a:r>
              <a:rPr lang="en-IN" sz="1400"/>
              <a:t>Integrates easily with authentication, audit logs, and security monitoring platforms. </a:t>
            </a:r>
          </a:p>
          <a:p>
            <a:pPr marL="285750" indent="-285750">
              <a:buFont typeface="Arial" panose="020B0604020202020204" pitchFamily="34" charset="0"/>
              <a:buChar char="•"/>
            </a:pPr>
            <a:r>
              <a:rPr lang="en-IN" sz="1400"/>
              <a:t>Docker-based deployment simplifies installation across cloud or on-premises environments. </a:t>
            </a:r>
            <a:br>
              <a:rPr lang="en-IN" sz="1400"/>
            </a:br>
            <a:endParaRPr lang="en-IN" sz="1400"/>
          </a:p>
          <a:p>
            <a:r>
              <a:rPr lang="en-IN" sz="1600" b="1"/>
              <a:t>Easy to Operate</a:t>
            </a:r>
          </a:p>
          <a:p>
            <a:pPr marL="285750" indent="-285750">
              <a:buFont typeface="Arial" panose="020B0604020202020204" pitchFamily="34" charset="0"/>
              <a:buChar char="•"/>
            </a:pPr>
            <a:r>
              <a:rPr lang="en-IN" sz="1400"/>
              <a:t>Real-time dashboard provides continuous monitoring of privileged user activities. </a:t>
            </a:r>
          </a:p>
          <a:p>
            <a:pPr marL="285750" indent="-285750">
              <a:buFont typeface="Arial" panose="020B0604020202020204" pitchFamily="34" charset="0"/>
              <a:buChar char="•"/>
            </a:pPr>
            <a:r>
              <a:rPr lang="en-IN" sz="1400"/>
              <a:t>AI automatically detects suspicious </a:t>
            </a:r>
            <a:r>
              <a:rPr lang="en-IN" sz="1400" err="1"/>
              <a:t>behavior</a:t>
            </a:r>
            <a:r>
              <a:rPr lang="en-IN" sz="1400"/>
              <a:t> and generates instant risk alerts. </a:t>
            </a:r>
          </a:p>
          <a:p>
            <a:pPr marL="285750" indent="-285750">
              <a:buFont typeface="Arial" panose="020B0604020202020204" pitchFamily="34" charset="0"/>
              <a:buChar char="•"/>
            </a:pPr>
            <a:r>
              <a:rPr lang="en-IN" sz="1400"/>
              <a:t>Explainable AI (SHAP) helps security teams understand every prediction quickly. </a:t>
            </a:r>
          </a:p>
          <a:p>
            <a:endParaRPr lang="en-IN" sz="1400"/>
          </a:p>
          <a:p>
            <a:r>
              <a:rPr lang="en-IN" sz="1600" b="1"/>
              <a:t>Easy to Maintain</a:t>
            </a:r>
          </a:p>
          <a:p>
            <a:pPr marL="285750" indent="-285750">
              <a:buFont typeface="Arial" panose="020B0604020202020204" pitchFamily="34" charset="0"/>
              <a:buChar char="•"/>
            </a:pPr>
            <a:r>
              <a:rPr lang="en-IN" sz="1400"/>
              <a:t>Microservices architecture allows independent updates to the frontend, backend, AI model, and database. </a:t>
            </a:r>
          </a:p>
          <a:p>
            <a:pPr marL="285750" indent="-285750">
              <a:buFont typeface="Arial" panose="020B0604020202020204" pitchFamily="34" charset="0"/>
              <a:buChar char="•"/>
            </a:pPr>
            <a:r>
              <a:rPr lang="en-IN" sz="1400"/>
              <a:t>New user activity logs continuously improve monitoring without disrupting system operations. </a:t>
            </a:r>
          </a:p>
          <a:p>
            <a:pPr marL="285750" indent="-285750">
              <a:buFont typeface="Arial" panose="020B0604020202020204" pitchFamily="34" charset="0"/>
              <a:buChar char="•"/>
            </a:pPr>
            <a:r>
              <a:rPr lang="en-IN" sz="1400"/>
              <a:t>Secure audit logs help with compliance and incident investigations. </a:t>
            </a:r>
          </a:p>
          <a:p>
            <a:endParaRPr lang="en-IN" sz="1400"/>
          </a:p>
          <a:p>
            <a:r>
              <a:rPr lang="en-IN" sz="1600" b="1"/>
              <a:t>Easy to Improve</a:t>
            </a:r>
          </a:p>
          <a:p>
            <a:pPr marL="285750" indent="-285750">
              <a:buFont typeface="Arial" panose="020B0604020202020204" pitchFamily="34" charset="0"/>
              <a:buChar char="•"/>
            </a:pPr>
            <a:r>
              <a:rPr lang="en-IN" sz="1400"/>
              <a:t>AI models can be retrained with new banking data to improve detection accuracy. </a:t>
            </a:r>
          </a:p>
          <a:p>
            <a:pPr marL="285750" indent="-285750">
              <a:buFont typeface="Arial" panose="020B0604020202020204" pitchFamily="34" charset="0"/>
              <a:buChar char="•"/>
            </a:pPr>
            <a:r>
              <a:rPr lang="en-IN" sz="1400"/>
              <a:t>Supports integration with SIEM, IAM, cloud security platforms, and future AI models. </a:t>
            </a:r>
          </a:p>
          <a:p>
            <a:pPr marL="285750" indent="-285750">
              <a:buFont typeface="Arial" panose="020B0604020202020204" pitchFamily="34" charset="0"/>
              <a:buChar char="•"/>
            </a:pPr>
            <a:r>
              <a:rPr lang="en-IN" sz="1400"/>
              <a:t>Future-ready with Quantum-Proof Cryptography (QPC) to protect sensitive audit records.</a:t>
            </a:r>
          </a:p>
          <a:p>
            <a:endParaRPr lang="en-IN" sz="1400"/>
          </a:p>
          <a:p>
            <a:pPr marL="342900" indent="-342900">
              <a:buFont typeface="Arial" panose="020B0604020202020204" pitchFamily="34" charset="0"/>
              <a:buChar char="•"/>
            </a:pPr>
            <a:endParaRPr lang="en-IN" sz="1400"/>
          </a:p>
          <a:p>
            <a:pPr marL="12700" marR="5080">
              <a:lnSpc>
                <a:spcPct val="100000"/>
              </a:lnSpc>
              <a:spcBef>
                <a:spcPts val="100"/>
              </a:spcBef>
            </a:pPr>
            <a:endParaRPr sz="2000">
              <a:latin typeface="Arial MT"/>
              <a:cs typeface="Arial MT"/>
            </a:endParaRPr>
          </a:p>
        </p:txBody>
      </p:sp>
      <p:sp>
        <p:nvSpPr>
          <p:cNvPr id="5" name="Rectangle 4">
            <a:extLst>
              <a:ext uri="{FF2B5EF4-FFF2-40B4-BE49-F238E27FC236}">
                <a16:creationId xmlns:a16="http://schemas.microsoft.com/office/drawing/2014/main" id="{18CC84C3-8337-4DF9-3B4C-FE3CE2ED647F}"/>
              </a:ext>
            </a:extLst>
          </p:cNvPr>
          <p:cNvSpPr/>
          <p:nvPr/>
        </p:nvSpPr>
        <p:spPr>
          <a:xfrm>
            <a:off x="8686800" y="914400"/>
            <a:ext cx="3331082" cy="571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t> IMPLEMENT</a:t>
            </a:r>
          </a:p>
          <a:p>
            <a:pPr algn="ctr"/>
            <a:r>
              <a:rPr lang="en-IN" sz="1200"/>
              <a:t> ┌─────────────────────┐</a:t>
            </a:r>
          </a:p>
          <a:p>
            <a:pPr algn="ctr"/>
            <a:r>
              <a:rPr lang="en-IN" sz="1200"/>
              <a:t> │ • Easy Deployment   │</a:t>
            </a:r>
          </a:p>
          <a:p>
            <a:pPr algn="ctr"/>
            <a:r>
              <a:rPr lang="en-IN" sz="1200"/>
              <a:t> │ • Docker Support    </a:t>
            </a:r>
            <a:r>
              <a:rPr lang="en-IN"/>
              <a:t>│</a:t>
            </a:r>
          </a:p>
          <a:p>
            <a:pPr algn="ctr"/>
            <a:r>
              <a:rPr lang="en-IN"/>
              <a:t> </a:t>
            </a:r>
            <a:r>
              <a:rPr lang="en-IN" sz="1200"/>
              <a:t>│ • API Integration   │</a:t>
            </a:r>
          </a:p>
          <a:p>
            <a:pPr algn="ctr"/>
            <a:r>
              <a:rPr lang="en-IN" sz="1200"/>
              <a:t> └─────────────────────┘</a:t>
            </a:r>
          </a:p>
          <a:p>
            <a:pPr algn="ctr"/>
            <a:r>
              <a:rPr lang="en-IN" sz="1200"/>
              <a:t>           │</a:t>
            </a:r>
          </a:p>
          <a:p>
            <a:pPr algn="ctr"/>
            <a:r>
              <a:rPr lang="en-IN" sz="1200"/>
              <a:t>           ▼</a:t>
            </a:r>
          </a:p>
          <a:p>
            <a:pPr algn="ctr"/>
            <a:r>
              <a:rPr lang="en-IN" sz="1200"/>
              <a:t>         OPERATE</a:t>
            </a:r>
          </a:p>
          <a:p>
            <a:pPr algn="ctr"/>
            <a:r>
              <a:rPr lang="en-IN" sz="1200"/>
              <a:t> ┌─────────────────────┐</a:t>
            </a:r>
          </a:p>
          <a:p>
            <a:pPr algn="ctr"/>
            <a:r>
              <a:rPr lang="en-IN" sz="1200"/>
              <a:t> │ • Real-Time AI      │</a:t>
            </a:r>
          </a:p>
          <a:p>
            <a:pPr algn="ctr"/>
            <a:r>
              <a:rPr lang="en-IN" sz="1200"/>
              <a:t> │ • Live Dashboard    │</a:t>
            </a:r>
          </a:p>
          <a:p>
            <a:pPr algn="ctr"/>
            <a:r>
              <a:rPr lang="en-IN" sz="1200"/>
              <a:t> │ • Instant Alerts    │</a:t>
            </a:r>
          </a:p>
          <a:p>
            <a:pPr algn="ctr"/>
            <a:r>
              <a:rPr lang="en-IN" sz="1200"/>
              <a:t> └─────────────────────┘</a:t>
            </a:r>
          </a:p>
          <a:p>
            <a:pPr algn="ctr"/>
            <a:r>
              <a:rPr lang="en-IN" sz="1200"/>
              <a:t>           │</a:t>
            </a:r>
          </a:p>
          <a:p>
            <a:pPr algn="ctr"/>
            <a:r>
              <a:rPr lang="en-IN" sz="1200"/>
              <a:t>           ▼</a:t>
            </a:r>
          </a:p>
          <a:p>
            <a:pPr algn="ctr"/>
            <a:r>
              <a:rPr lang="en-IN" sz="1200"/>
              <a:t>        MAINTAIN</a:t>
            </a:r>
          </a:p>
          <a:p>
            <a:pPr algn="ctr"/>
            <a:r>
              <a:rPr lang="en-IN" sz="1200"/>
              <a:t> ┌─────────────────────┐</a:t>
            </a:r>
          </a:p>
          <a:p>
            <a:pPr algn="ctr"/>
            <a:r>
              <a:rPr lang="en-IN" sz="1200"/>
              <a:t> │ • Modular Services  │</a:t>
            </a:r>
          </a:p>
          <a:p>
            <a:pPr algn="ctr"/>
            <a:r>
              <a:rPr lang="en-IN" sz="1200"/>
              <a:t> │ • Secure Audit Logs │</a:t>
            </a:r>
          </a:p>
          <a:p>
            <a:pPr algn="ctr"/>
            <a:r>
              <a:rPr lang="en-IN" sz="1200"/>
              <a:t> │ • Easy Updates      │</a:t>
            </a:r>
          </a:p>
          <a:p>
            <a:pPr algn="ctr"/>
            <a:r>
              <a:rPr lang="en-IN" sz="1200"/>
              <a:t> └─────────────────────┘</a:t>
            </a:r>
          </a:p>
          <a:p>
            <a:pPr algn="ctr"/>
            <a:r>
              <a:rPr lang="en-IN" sz="1200"/>
              <a:t>           │</a:t>
            </a:r>
          </a:p>
          <a:p>
            <a:pPr algn="ctr"/>
            <a:r>
              <a:rPr lang="en-IN" sz="1200"/>
              <a:t>           ▼</a:t>
            </a:r>
          </a:p>
          <a:p>
            <a:pPr algn="ctr"/>
            <a:r>
              <a:rPr lang="en-IN" sz="1200"/>
              <a:t>         IMPROVE</a:t>
            </a:r>
          </a:p>
          <a:p>
            <a:pPr algn="ctr"/>
            <a:r>
              <a:rPr lang="en-IN" sz="1200"/>
              <a:t> ┌─────────────────────┐</a:t>
            </a:r>
          </a:p>
          <a:p>
            <a:pPr algn="ctr"/>
            <a:r>
              <a:rPr lang="en-IN" sz="1200"/>
              <a:t> │ • Model Retraining  │</a:t>
            </a:r>
          </a:p>
          <a:p>
            <a:pPr algn="ctr"/>
            <a:r>
              <a:rPr lang="en-IN" sz="1200"/>
              <a:t> │ • New AI Features   │</a:t>
            </a:r>
          </a:p>
          <a:p>
            <a:pPr algn="ctr"/>
            <a:r>
              <a:rPr lang="en-IN" sz="1200"/>
              <a:t> │ • Future Expansion  │</a:t>
            </a:r>
          </a:p>
          <a:p>
            <a:pPr algn="ctr"/>
            <a:r>
              <a:rPr lang="en-IN" sz="120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56654" y="625356"/>
            <a:ext cx="7902575" cy="939360"/>
          </a:xfrm>
          <a:prstGeom prst="rect">
            <a:avLst/>
          </a:prstGeom>
        </p:spPr>
        <p:txBody>
          <a:bodyPr vert="horz" wrap="square" lIns="0" tIns="122555" rIns="0" bIns="0" rtlCol="0">
            <a:spAutoFit/>
          </a:bodyPr>
          <a:lstStyle/>
          <a:p>
            <a:pPr marL="78740">
              <a:lnSpc>
                <a:spcPct val="100000"/>
              </a:lnSpc>
              <a:spcBef>
                <a:spcPts val="965"/>
              </a:spcBef>
            </a:pPr>
            <a:r>
              <a:t>Security</a:t>
            </a:r>
            <a:r>
              <a:rPr spc="345"/>
              <a:t> </a:t>
            </a:r>
            <a:r>
              <a:rPr spc="-10"/>
              <a:t>Considerations</a:t>
            </a:r>
          </a:p>
          <a:p>
            <a:pPr marL="12700" marR="5080">
              <a:lnSpc>
                <a:spcPct val="100000"/>
              </a:lnSpc>
              <a:spcBef>
                <a:spcPts val="620"/>
              </a:spcBef>
            </a:pPr>
            <a:endParaRPr sz="2000"/>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4" name="TextBox 3">
            <a:extLst>
              <a:ext uri="{FF2B5EF4-FFF2-40B4-BE49-F238E27FC236}">
                <a16:creationId xmlns:a16="http://schemas.microsoft.com/office/drawing/2014/main" id="{C776E23B-8B84-31C3-4B89-14408F7DE6F1}"/>
              </a:ext>
            </a:extLst>
          </p:cNvPr>
          <p:cNvSpPr txBox="1"/>
          <p:nvPr/>
        </p:nvSpPr>
        <p:spPr>
          <a:xfrm>
            <a:off x="356654" y="1295400"/>
            <a:ext cx="7872946" cy="369332"/>
          </a:xfrm>
          <a:prstGeom prst="rect">
            <a:avLst/>
          </a:prstGeom>
          <a:noFill/>
        </p:spPr>
        <p:txBody>
          <a:bodyPr wrap="square" rtlCol="0">
            <a:spAutoFit/>
          </a:bodyPr>
          <a:lstStyle/>
          <a:p>
            <a:r>
              <a:rPr lang="en-IN"/>
              <a:t>Security is embedded into every layer of </a:t>
            </a:r>
            <a:r>
              <a:rPr lang="en-IN" err="1"/>
              <a:t>QuantumShield</a:t>
            </a:r>
            <a:r>
              <a:rPr lang="en-IN"/>
              <a:t> AI.</a:t>
            </a:r>
          </a:p>
        </p:txBody>
      </p:sp>
      <p:sp>
        <p:nvSpPr>
          <p:cNvPr id="5" name="TextBox 4">
            <a:extLst>
              <a:ext uri="{FF2B5EF4-FFF2-40B4-BE49-F238E27FC236}">
                <a16:creationId xmlns:a16="http://schemas.microsoft.com/office/drawing/2014/main" id="{E3A7BE1F-A2E7-8C03-43C6-5B43440D2D64}"/>
              </a:ext>
            </a:extLst>
          </p:cNvPr>
          <p:cNvSpPr txBox="1"/>
          <p:nvPr/>
        </p:nvSpPr>
        <p:spPr>
          <a:xfrm>
            <a:off x="356654" y="1740932"/>
            <a:ext cx="4139146" cy="461665"/>
          </a:xfrm>
          <a:prstGeom prst="rect">
            <a:avLst/>
          </a:prstGeom>
          <a:noFill/>
        </p:spPr>
        <p:txBody>
          <a:bodyPr wrap="square" rtlCol="0">
            <a:spAutoFit/>
          </a:bodyPr>
          <a:lstStyle/>
          <a:p>
            <a:r>
              <a:rPr lang="en-IN" sz="2400"/>
              <a:t>Security Features:</a:t>
            </a:r>
          </a:p>
        </p:txBody>
      </p:sp>
      <p:sp>
        <p:nvSpPr>
          <p:cNvPr id="7" name="TextBox 6">
            <a:extLst>
              <a:ext uri="{FF2B5EF4-FFF2-40B4-BE49-F238E27FC236}">
                <a16:creationId xmlns:a16="http://schemas.microsoft.com/office/drawing/2014/main" id="{59C45964-1652-B8CF-0A88-55281C297086}"/>
              </a:ext>
            </a:extLst>
          </p:cNvPr>
          <p:cNvSpPr txBox="1"/>
          <p:nvPr/>
        </p:nvSpPr>
        <p:spPr>
          <a:xfrm>
            <a:off x="457200" y="2438400"/>
            <a:ext cx="6934200" cy="2308324"/>
          </a:xfrm>
          <a:prstGeom prst="rect">
            <a:avLst/>
          </a:prstGeom>
          <a:noFill/>
        </p:spPr>
        <p:txBody>
          <a:bodyPr wrap="square" rtlCol="0">
            <a:spAutoFit/>
          </a:bodyPr>
          <a:lstStyle/>
          <a:p>
            <a:pPr marL="285750" indent="-285750">
              <a:buFont typeface="Arial" panose="020B0604020202020204" pitchFamily="34" charset="0"/>
              <a:buChar char="•"/>
            </a:pPr>
            <a:r>
              <a:rPr lang="en-IN"/>
              <a:t>Multi-Factor Authentication (MFA).</a:t>
            </a:r>
          </a:p>
          <a:p>
            <a:pPr marL="285750" indent="-285750">
              <a:buFont typeface="Arial" panose="020B0604020202020204" pitchFamily="34" charset="0"/>
              <a:buChar char="•"/>
            </a:pPr>
            <a:r>
              <a:rPr lang="en-IN"/>
              <a:t>Role-Based Access Control (RBAC).</a:t>
            </a:r>
          </a:p>
          <a:p>
            <a:pPr marL="285750" indent="-285750">
              <a:buFont typeface="Arial" panose="020B0604020202020204" pitchFamily="34" charset="0"/>
              <a:buChar char="•"/>
            </a:pPr>
            <a:r>
              <a:rPr lang="en-IN"/>
              <a:t>JWT Authentication.</a:t>
            </a:r>
          </a:p>
          <a:p>
            <a:pPr marL="285750" indent="-285750">
              <a:buFont typeface="Arial" panose="020B0604020202020204" pitchFamily="34" charset="0"/>
              <a:buChar char="•"/>
            </a:pPr>
            <a:r>
              <a:rPr lang="en-IN"/>
              <a:t>AI-powered anomaly detection.</a:t>
            </a:r>
          </a:p>
          <a:p>
            <a:pPr marL="285750" indent="-285750">
              <a:buFont typeface="Arial" panose="020B0604020202020204" pitchFamily="34" charset="0"/>
              <a:buChar char="•"/>
            </a:pPr>
            <a:r>
              <a:rPr lang="en-IN"/>
              <a:t>Explainable AI decision support.</a:t>
            </a:r>
          </a:p>
          <a:p>
            <a:pPr marL="285750" indent="-285750">
              <a:buFont typeface="Arial" panose="020B0604020202020204" pitchFamily="34" charset="0"/>
              <a:buChar char="•"/>
            </a:pPr>
            <a:r>
              <a:rPr lang="en-IN"/>
              <a:t>Automated response engine.</a:t>
            </a:r>
          </a:p>
          <a:p>
            <a:pPr marL="285750" indent="-285750">
              <a:buFont typeface="Arial" panose="020B0604020202020204" pitchFamily="34" charset="0"/>
              <a:buChar char="•"/>
            </a:pPr>
            <a:r>
              <a:rPr lang="en-IN"/>
              <a:t>Tamper-resistant audit logs.</a:t>
            </a:r>
          </a:p>
          <a:p>
            <a:pPr marL="285750" indent="-285750">
              <a:buFont typeface="Arial" panose="020B0604020202020204" pitchFamily="34" charset="0"/>
              <a:buChar char="•"/>
            </a:pPr>
            <a:r>
              <a:rPr lang="en-IN"/>
              <a:t>Quantum-safe cryptography using Kyber and </a:t>
            </a:r>
            <a:r>
              <a:rPr lang="en-IN" err="1"/>
              <a:t>Dilithium</a:t>
            </a:r>
            <a:r>
              <a:rPr lang="en-IN"/>
              <a:t>.</a:t>
            </a:r>
          </a:p>
        </p:txBody>
      </p:sp>
      <p:sp>
        <p:nvSpPr>
          <p:cNvPr id="8" name="TextBox 7">
            <a:extLst>
              <a:ext uri="{FF2B5EF4-FFF2-40B4-BE49-F238E27FC236}">
                <a16:creationId xmlns:a16="http://schemas.microsoft.com/office/drawing/2014/main" id="{6A013CB4-AC31-F09E-2F0C-B82C26DB886E}"/>
              </a:ext>
            </a:extLst>
          </p:cNvPr>
          <p:cNvSpPr txBox="1"/>
          <p:nvPr/>
        </p:nvSpPr>
        <p:spPr>
          <a:xfrm>
            <a:off x="457200" y="5181600"/>
            <a:ext cx="9805682" cy="646331"/>
          </a:xfrm>
          <a:prstGeom prst="rect">
            <a:avLst/>
          </a:prstGeom>
          <a:noFill/>
        </p:spPr>
        <p:txBody>
          <a:bodyPr wrap="square" rtlCol="0">
            <a:spAutoFit/>
          </a:bodyPr>
          <a:lstStyle/>
          <a:p>
            <a:r>
              <a:rPr lang="en-IN"/>
              <a:t>These controls enhance resilience against insider threats while supporting compliance with modern banking security requirements.</a:t>
            </a:r>
          </a:p>
        </p:txBody>
      </p:sp>
      <p:sp>
        <p:nvSpPr>
          <p:cNvPr id="9" name="Arrow: Right 8">
            <a:extLst>
              <a:ext uri="{FF2B5EF4-FFF2-40B4-BE49-F238E27FC236}">
                <a16:creationId xmlns:a16="http://schemas.microsoft.com/office/drawing/2014/main" id="{9676C54D-D41F-39BA-890A-41A504852BEA}"/>
              </a:ext>
            </a:extLst>
          </p:cNvPr>
          <p:cNvSpPr/>
          <p:nvPr/>
        </p:nvSpPr>
        <p:spPr>
          <a:xfrm>
            <a:off x="152400" y="5364481"/>
            <a:ext cx="22860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13664">
              <a:lnSpc>
                <a:spcPct val="100000"/>
              </a:lnSpc>
              <a:spcBef>
                <a:spcPts val="100"/>
              </a:spcBef>
            </a:pPr>
            <a:r>
              <a:rPr spc="45"/>
              <a:t>Architecture</a:t>
            </a:r>
            <a:r>
              <a:rPr spc="75"/>
              <a:t> </a:t>
            </a:r>
            <a:r>
              <a:t>diagram</a:t>
            </a:r>
            <a:r>
              <a:rPr spc="70"/>
              <a:t> &amp;</a:t>
            </a:r>
            <a:r>
              <a:rPr spc="75"/>
              <a:t> </a:t>
            </a:r>
            <a:r>
              <a:rPr spc="-10"/>
              <a:t>Images</a:t>
            </a:r>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5" name="Rectangle 4">
            <a:extLst>
              <a:ext uri="{FF2B5EF4-FFF2-40B4-BE49-F238E27FC236}">
                <a16:creationId xmlns:a16="http://schemas.microsoft.com/office/drawing/2014/main" id="{8FD25239-757A-43AD-ECCE-5FD3F147AE88}"/>
              </a:ext>
            </a:extLst>
          </p:cNvPr>
          <p:cNvSpPr/>
          <p:nvPr/>
        </p:nvSpPr>
        <p:spPr>
          <a:xfrm>
            <a:off x="7543800" y="762000"/>
            <a:ext cx="4191000" cy="594120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lumMod val="95000"/>
                    <a:lumOff val="5000"/>
                  </a:schemeClr>
                </a:solidFill>
              </a:rPr>
              <a:t> 👤 Users</a:t>
            </a:r>
          </a:p>
          <a:p>
            <a:pPr algn="ctr"/>
            <a:r>
              <a:rPr lang="en-IN" sz="1000">
                <a:solidFill>
                  <a:schemeClr val="tx1">
                    <a:lumMod val="95000"/>
                    <a:lumOff val="5000"/>
                  </a:schemeClr>
                </a:solidFill>
              </a:rPr>
              <a:t>      (Admin • Employee • Analyst)</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 Authentication Layer</a:t>
            </a:r>
          </a:p>
          <a:p>
            <a:pPr algn="ctr"/>
            <a:r>
              <a:rPr lang="en-IN" sz="1000">
                <a:solidFill>
                  <a:schemeClr val="tx1">
                    <a:lumMod val="95000"/>
                    <a:lumOff val="5000"/>
                  </a:schemeClr>
                </a:solidFill>
              </a:rPr>
              <a:t>          JWT • RBAC • MFA</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 Activity Collection</a:t>
            </a:r>
          </a:p>
          <a:p>
            <a:pPr algn="ctr"/>
            <a:r>
              <a:rPr lang="en-IN" sz="1000">
                <a:solidFill>
                  <a:schemeClr val="tx1">
                    <a:lumMod val="95000"/>
                    <a:lumOff val="5000"/>
                  </a:schemeClr>
                </a:solidFill>
              </a:rPr>
              <a:t> Login • File Access • Database • Email</a:t>
            </a:r>
          </a:p>
          <a:p>
            <a:pPr algn="ctr"/>
            <a:r>
              <a:rPr lang="en-IN" sz="1000">
                <a:solidFill>
                  <a:schemeClr val="tx1">
                    <a:lumMod val="95000"/>
                    <a:lumOff val="5000"/>
                  </a:schemeClr>
                </a:solidFill>
              </a:rPr>
              <a:t> USB Activity • Privileged Commands</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 Feature Engineering Layer</a:t>
            </a:r>
          </a:p>
          <a:p>
            <a:pPr algn="ctr"/>
            <a:r>
              <a:rPr lang="en-IN" sz="1000">
                <a:solidFill>
                  <a:schemeClr val="tx1">
                    <a:lumMod val="95000"/>
                    <a:lumOff val="5000"/>
                  </a:schemeClr>
                </a:solidFill>
              </a:rPr>
              <a:t>  Data Cleaning • Encoding • Feature Extraction</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 Machine Learning Engine</a:t>
            </a:r>
          </a:p>
          <a:p>
            <a:pPr algn="ctr"/>
            <a:r>
              <a:rPr lang="en-IN" sz="1000">
                <a:solidFill>
                  <a:schemeClr val="tx1">
                    <a:lumMod val="95000"/>
                    <a:lumOff val="5000"/>
                  </a:schemeClr>
                </a:solidFill>
              </a:rPr>
              <a:t>      Random Forest • </a:t>
            </a:r>
            <a:r>
              <a:rPr lang="en-IN" sz="1000" err="1">
                <a:solidFill>
                  <a:schemeClr val="tx1">
                    <a:lumMod val="95000"/>
                    <a:lumOff val="5000"/>
                  </a:schemeClr>
                </a:solidFill>
              </a:rPr>
              <a:t>XGBoost</a:t>
            </a:r>
            <a:r>
              <a:rPr lang="en-IN" sz="1000">
                <a:solidFill>
                  <a:schemeClr val="tx1">
                    <a:lumMod val="95000"/>
                    <a:lumOff val="5000"/>
                  </a:schemeClr>
                </a:solidFill>
              </a:rPr>
              <a:t> • </a:t>
            </a:r>
            <a:r>
              <a:rPr lang="en-IN" sz="1000" err="1">
                <a:solidFill>
                  <a:schemeClr val="tx1">
                    <a:lumMod val="95000"/>
                    <a:lumOff val="5000"/>
                  </a:schemeClr>
                </a:solidFill>
              </a:rPr>
              <a:t>CatBoost</a:t>
            </a:r>
            <a:endParaRPr lang="en-IN" sz="1000">
              <a:solidFill>
                <a:schemeClr val="tx1">
                  <a:lumMod val="95000"/>
                  <a:lumOff val="5000"/>
                </a:schemeClr>
              </a:solidFill>
            </a:endParaRPr>
          </a:p>
          <a:p>
            <a:pPr algn="ctr"/>
            <a:r>
              <a:rPr lang="en-IN" sz="1000">
                <a:solidFill>
                  <a:schemeClr val="tx1">
                    <a:lumMod val="95000"/>
                    <a:lumOff val="5000"/>
                  </a:schemeClr>
                </a:solidFill>
              </a:rPr>
              <a:t>            (Best Model: </a:t>
            </a:r>
            <a:r>
              <a:rPr lang="en-IN" sz="1000" err="1">
                <a:solidFill>
                  <a:schemeClr val="tx1">
                    <a:lumMod val="95000"/>
                    <a:lumOff val="5000"/>
                  </a:schemeClr>
                </a:solidFill>
              </a:rPr>
              <a:t>CatBoost</a:t>
            </a:r>
            <a:r>
              <a:rPr lang="en-IN" sz="1000">
                <a:solidFill>
                  <a:schemeClr val="tx1">
                    <a:lumMod val="95000"/>
                    <a:lumOff val="5000"/>
                  </a:schemeClr>
                </a:solidFill>
              </a:rPr>
              <a:t>)</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 Explainable AI (SHAP)</a:t>
            </a:r>
          </a:p>
          <a:p>
            <a:pPr algn="ctr"/>
            <a:r>
              <a:rPr lang="en-IN" sz="1000">
                <a:solidFill>
                  <a:schemeClr val="tx1">
                    <a:lumMod val="95000"/>
                    <a:lumOff val="5000"/>
                  </a:schemeClr>
                </a:solidFill>
              </a:rPr>
              <a:t> Explains why a user is marked as risky</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 AI Risk Scoring Engine</a:t>
            </a:r>
          </a:p>
          <a:p>
            <a:pPr algn="ctr"/>
            <a:r>
              <a:rPr lang="en-IN" sz="1000">
                <a:solidFill>
                  <a:schemeClr val="tx1">
                    <a:lumMod val="95000"/>
                    <a:lumOff val="5000"/>
                  </a:schemeClr>
                </a:solidFill>
              </a:rPr>
              <a:t> Low • Medium • High • Critical</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                   ▼</a:t>
            </a:r>
          </a:p>
          <a:p>
            <a:pPr algn="ctr"/>
            <a:r>
              <a:rPr lang="en-IN" sz="1000">
                <a:solidFill>
                  <a:schemeClr val="tx1">
                    <a:lumMod val="95000"/>
                    <a:lumOff val="5000"/>
                  </a:schemeClr>
                </a:solidFill>
              </a:rPr>
              <a:t>     🚨 Alert Management      🖥 Dashboard</a:t>
            </a:r>
          </a:p>
          <a:p>
            <a:pPr algn="ctr"/>
            <a:r>
              <a:rPr lang="en-IN" sz="1000">
                <a:solidFill>
                  <a:schemeClr val="tx1">
                    <a:lumMod val="95000"/>
                    <a:lumOff val="5000"/>
                  </a:schemeClr>
                </a:solidFill>
              </a:rPr>
              <a:t>  Notifications • Lock User   Live Monitoring</a:t>
            </a:r>
          </a:p>
          <a:p>
            <a:pPr algn="ctr"/>
            <a:r>
              <a:rPr lang="en-IN" sz="1000">
                <a:solidFill>
                  <a:schemeClr val="tx1">
                    <a:lumMod val="95000"/>
                    <a:lumOff val="5000"/>
                  </a:schemeClr>
                </a:solidFill>
              </a:rPr>
              <a:t>             │                   │</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a:t>
            </a:r>
          </a:p>
          <a:p>
            <a:pPr algn="ctr"/>
            <a:r>
              <a:rPr lang="en-IN" sz="1000">
                <a:solidFill>
                  <a:schemeClr val="tx1">
                    <a:lumMod val="95000"/>
                    <a:lumOff val="5000"/>
                  </a:schemeClr>
                </a:solidFill>
              </a:rPr>
              <a:t>      🔒 Quantum-Proof Audit Logs</a:t>
            </a:r>
          </a:p>
          <a:p>
            <a:pPr algn="ctr"/>
            <a:r>
              <a:rPr lang="en-IN" sz="1000">
                <a:solidFill>
                  <a:schemeClr val="tx1">
                    <a:lumMod val="95000"/>
                    <a:lumOff val="5000"/>
                  </a:schemeClr>
                </a:solidFill>
              </a:rPr>
              <a:t>      Secure Storage &amp; Compliance</a:t>
            </a:r>
          </a:p>
        </p:txBody>
      </p:sp>
      <p:sp>
        <p:nvSpPr>
          <p:cNvPr id="6" name="TextBox 5">
            <a:extLst>
              <a:ext uri="{FF2B5EF4-FFF2-40B4-BE49-F238E27FC236}">
                <a16:creationId xmlns:a16="http://schemas.microsoft.com/office/drawing/2014/main" id="{E06DE272-F54C-46BB-1C45-08AACC481E30}"/>
              </a:ext>
            </a:extLst>
          </p:cNvPr>
          <p:cNvSpPr txBox="1"/>
          <p:nvPr/>
        </p:nvSpPr>
        <p:spPr>
          <a:xfrm>
            <a:off x="381000" y="1295400"/>
            <a:ext cx="7010400" cy="2092881"/>
          </a:xfrm>
          <a:prstGeom prst="rect">
            <a:avLst/>
          </a:prstGeom>
          <a:noFill/>
        </p:spPr>
        <p:txBody>
          <a:bodyPr wrap="square" rtlCol="0">
            <a:spAutoFit/>
          </a:bodyPr>
          <a:lstStyle/>
          <a:p>
            <a:r>
              <a:rPr lang="en-IN" sz="1600" err="1"/>
              <a:t>QuantumShield</a:t>
            </a:r>
            <a:r>
              <a:rPr lang="en-IN" sz="1600"/>
              <a:t> AI integrates user authentication, activity monitoring, machine learning, Explainable AI, and a real-time dashboard into a single security platform. User activities are collected from banking systems, </a:t>
            </a:r>
            <a:r>
              <a:rPr lang="en-IN" sz="1600" err="1"/>
              <a:t>analyzed</a:t>
            </a:r>
            <a:r>
              <a:rPr lang="en-IN" sz="1600"/>
              <a:t> using the </a:t>
            </a:r>
            <a:r>
              <a:rPr lang="en-IN" sz="1600" err="1"/>
              <a:t>CatBoost</a:t>
            </a:r>
            <a:r>
              <a:rPr lang="en-IN" sz="1600"/>
              <a:t> machine learning model, explained with SHAP, and converted into dynamic risk scores. High-risk activities trigger instant alerts, enabling security teams to respond quickly while maintaining secure audit records with Quantum-Proof Cryptography.</a:t>
            </a:r>
          </a:p>
          <a:p>
            <a:endParaRPr lang="en-IN"/>
          </a:p>
        </p:txBody>
      </p:sp>
      <p:pic>
        <p:nvPicPr>
          <p:cNvPr id="8" name="Picture 7">
            <a:extLst>
              <a:ext uri="{FF2B5EF4-FFF2-40B4-BE49-F238E27FC236}">
                <a16:creationId xmlns:a16="http://schemas.microsoft.com/office/drawing/2014/main" id="{ED523647-1ABD-015F-DF92-D057F800B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1" y="3124200"/>
            <a:ext cx="6172200" cy="3579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89535">
              <a:lnSpc>
                <a:spcPct val="100000"/>
              </a:lnSpc>
              <a:spcBef>
                <a:spcPts val="100"/>
              </a:spcBef>
            </a:pPr>
            <a:r>
              <a:rPr spc="50"/>
              <a:t>Solution</a:t>
            </a:r>
            <a:r>
              <a:rPr spc="105"/>
              <a:t> </a:t>
            </a:r>
            <a:r>
              <a:t>Screenshots</a:t>
            </a:r>
            <a:r>
              <a:rPr spc="110"/>
              <a:t> </a:t>
            </a:r>
            <a:r>
              <a:rPr spc="70"/>
              <a:t>&amp;</a:t>
            </a:r>
            <a:r>
              <a:rPr spc="110"/>
              <a:t> </a:t>
            </a:r>
            <a:r>
              <a:t>video</a:t>
            </a:r>
            <a:r>
              <a:rPr spc="110"/>
              <a:t> </a:t>
            </a:r>
            <a:r>
              <a:rPr spc="70"/>
              <a:t>&amp;</a:t>
            </a:r>
            <a:r>
              <a:rPr spc="110"/>
              <a:t> </a:t>
            </a:r>
            <a:r>
              <a:rPr spc="50"/>
              <a:t>Github</a:t>
            </a:r>
            <a:r>
              <a:rPr spc="110"/>
              <a:t> </a:t>
            </a:r>
            <a:r>
              <a:rPr spc="45"/>
              <a:t>Link</a:t>
            </a:r>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11" name="TextBox 10">
            <a:extLst>
              <a:ext uri="{FF2B5EF4-FFF2-40B4-BE49-F238E27FC236}">
                <a16:creationId xmlns:a16="http://schemas.microsoft.com/office/drawing/2014/main" id="{F90D565B-B433-1BA1-2867-DFE341F7EE79}"/>
              </a:ext>
            </a:extLst>
          </p:cNvPr>
          <p:cNvSpPr txBox="1"/>
          <p:nvPr/>
        </p:nvSpPr>
        <p:spPr>
          <a:xfrm flipH="1" flipV="1">
            <a:off x="794331" y="1740932"/>
            <a:ext cx="5835069" cy="1154668"/>
          </a:xfrm>
          <a:prstGeom prst="rect">
            <a:avLst/>
          </a:prstGeom>
          <a:noFill/>
        </p:spPr>
        <p:txBody>
          <a:bodyPr wrap="square" rtlCol="0">
            <a:spAutoFit/>
          </a:bodyPr>
          <a:lstStyle/>
          <a:p>
            <a:endParaRPr lang="en-IN"/>
          </a:p>
        </p:txBody>
      </p:sp>
      <p:sp>
        <p:nvSpPr>
          <p:cNvPr id="12" name="TextBox 11">
            <a:extLst>
              <a:ext uri="{FF2B5EF4-FFF2-40B4-BE49-F238E27FC236}">
                <a16:creationId xmlns:a16="http://schemas.microsoft.com/office/drawing/2014/main" id="{65496CE1-D2C4-B0FC-E50C-B37D213B75A0}"/>
              </a:ext>
            </a:extLst>
          </p:cNvPr>
          <p:cNvSpPr txBox="1"/>
          <p:nvPr/>
        </p:nvSpPr>
        <p:spPr>
          <a:xfrm>
            <a:off x="357022" y="1219200"/>
            <a:ext cx="4976978" cy="1846659"/>
          </a:xfrm>
          <a:prstGeom prst="rect">
            <a:avLst/>
          </a:prstGeom>
          <a:noFill/>
        </p:spPr>
        <p:txBody>
          <a:bodyPr wrap="square" rtlCol="0">
            <a:spAutoFit/>
          </a:bodyPr>
          <a:lstStyle/>
          <a:p>
            <a:r>
              <a:rPr lang="en-IN" sz="1600"/>
              <a:t>Our prototype demonstrates the complete workflow of insider threat detection, from user monitoring to risk analysis and alert generation. All supporting resources, including GitHub, demo video, and project documentation, are provided to ensure transparency and easy evaluation.</a:t>
            </a:r>
          </a:p>
          <a:p>
            <a:endParaRPr lang="en-IN"/>
          </a:p>
        </p:txBody>
      </p:sp>
      <p:sp>
        <p:nvSpPr>
          <p:cNvPr id="13" name="TextBox 12">
            <a:extLst>
              <a:ext uri="{FF2B5EF4-FFF2-40B4-BE49-F238E27FC236}">
                <a16:creationId xmlns:a16="http://schemas.microsoft.com/office/drawing/2014/main" id="{DEBC32B9-1790-DA5B-6591-21435B758F9A}"/>
              </a:ext>
            </a:extLst>
          </p:cNvPr>
          <p:cNvSpPr txBox="1"/>
          <p:nvPr/>
        </p:nvSpPr>
        <p:spPr>
          <a:xfrm>
            <a:off x="357022" y="2843951"/>
            <a:ext cx="2995778" cy="369332"/>
          </a:xfrm>
          <a:prstGeom prst="rect">
            <a:avLst/>
          </a:prstGeom>
          <a:noFill/>
        </p:spPr>
        <p:txBody>
          <a:bodyPr wrap="square" rtlCol="0">
            <a:spAutoFit/>
          </a:bodyPr>
          <a:lstStyle/>
          <a:p>
            <a:r>
              <a:rPr lang="en-IN"/>
              <a:t>📂 </a:t>
            </a:r>
            <a:r>
              <a:rPr lang="en-IN" b="1"/>
              <a:t>GitHub Repository QR</a:t>
            </a:r>
            <a:endParaRPr lang="en-IN"/>
          </a:p>
        </p:txBody>
      </p:sp>
      <p:pic>
        <p:nvPicPr>
          <p:cNvPr id="15" name="Picture 14">
            <a:extLst>
              <a:ext uri="{FF2B5EF4-FFF2-40B4-BE49-F238E27FC236}">
                <a16:creationId xmlns:a16="http://schemas.microsoft.com/office/drawing/2014/main" id="{827A91DD-6672-9370-13FA-9169693117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511" y="3213283"/>
            <a:ext cx="1828800" cy="1447800"/>
          </a:xfrm>
          <a:prstGeom prst="rect">
            <a:avLst/>
          </a:prstGeom>
        </p:spPr>
      </p:pic>
      <p:pic>
        <p:nvPicPr>
          <p:cNvPr id="17" name="Picture 16">
            <a:extLst>
              <a:ext uri="{FF2B5EF4-FFF2-40B4-BE49-F238E27FC236}">
                <a16:creationId xmlns:a16="http://schemas.microsoft.com/office/drawing/2014/main" id="{E4C3077A-562B-29B4-B829-A10C8C892D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200" y="1031809"/>
            <a:ext cx="5410200" cy="3082992"/>
          </a:xfrm>
          <a:prstGeom prst="rect">
            <a:avLst/>
          </a:prstGeom>
        </p:spPr>
      </p:pic>
      <p:pic>
        <p:nvPicPr>
          <p:cNvPr id="19" name="Picture 18">
            <a:extLst>
              <a:ext uri="{FF2B5EF4-FFF2-40B4-BE49-F238E27FC236}">
                <a16:creationId xmlns:a16="http://schemas.microsoft.com/office/drawing/2014/main" id="{CA848CFD-3A18-80E4-CFCC-4676E8D56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60002" y="4114800"/>
            <a:ext cx="5203398" cy="2666999"/>
          </a:xfrm>
          <a:prstGeom prst="rect">
            <a:avLst/>
          </a:prstGeom>
        </p:spPr>
      </p:pic>
      <p:sp>
        <p:nvSpPr>
          <p:cNvPr id="20" name="TextBox 19">
            <a:extLst>
              <a:ext uri="{FF2B5EF4-FFF2-40B4-BE49-F238E27FC236}">
                <a16:creationId xmlns:a16="http://schemas.microsoft.com/office/drawing/2014/main" id="{ACB2DA2B-7287-CCA3-87A8-4EE973AB3BA6}"/>
              </a:ext>
            </a:extLst>
          </p:cNvPr>
          <p:cNvSpPr txBox="1"/>
          <p:nvPr/>
        </p:nvSpPr>
        <p:spPr>
          <a:xfrm>
            <a:off x="533400" y="4876800"/>
            <a:ext cx="2743200" cy="369332"/>
          </a:xfrm>
          <a:prstGeom prst="rect">
            <a:avLst/>
          </a:prstGeom>
          <a:noFill/>
        </p:spPr>
        <p:txBody>
          <a:bodyPr wrap="square" rtlCol="0">
            <a:spAutoFit/>
          </a:bodyPr>
          <a:lstStyle/>
          <a:p>
            <a:r>
              <a:rPr lang="en-IN"/>
              <a:t>▶️ </a:t>
            </a:r>
            <a:r>
              <a:rPr lang="en-IN" b="1"/>
              <a:t>Project Demo Video</a:t>
            </a:r>
            <a:endParaRPr lang="en-IN"/>
          </a:p>
        </p:txBody>
      </p:sp>
      <p:sp>
        <p:nvSpPr>
          <p:cNvPr id="21" name="TextBox 20">
            <a:hlinkClick r:id="rId6"/>
            <a:extLst>
              <a:ext uri="{FF2B5EF4-FFF2-40B4-BE49-F238E27FC236}">
                <a16:creationId xmlns:a16="http://schemas.microsoft.com/office/drawing/2014/main" id="{EECBA55F-BA7C-2606-B163-6F0626E512B8}"/>
              </a:ext>
            </a:extLst>
          </p:cNvPr>
          <p:cNvSpPr txBox="1"/>
          <p:nvPr/>
        </p:nvSpPr>
        <p:spPr>
          <a:xfrm>
            <a:off x="609600" y="5246132"/>
            <a:ext cx="5562600" cy="646331"/>
          </a:xfrm>
          <a:prstGeom prst="rect">
            <a:avLst/>
          </a:prstGeom>
          <a:noFill/>
        </p:spPr>
        <p:txBody>
          <a:bodyPr wrap="square" rtlCol="0">
            <a:spAutoFit/>
          </a:bodyPr>
          <a:lstStyle/>
          <a:p>
            <a:r>
              <a:rPr lang="en-IN">
                <a:hlinkClick r:id="rId6"/>
              </a:rPr>
              <a:t>https://drive.google.com/file/d/1fZtUrf5n8GURmuO8a6Vu5OF_6xLEn6H_/view?usp=drivesdk</a:t>
            </a: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flipH="1">
            <a:off x="4114800" y="1066800"/>
            <a:ext cx="2895600" cy="689932"/>
          </a:xfrm>
          <a:prstGeom prst="rect">
            <a:avLst/>
          </a:prstGeom>
        </p:spPr>
        <p:txBody>
          <a:bodyPr vert="horz" wrap="square" lIns="0" tIns="12700" rIns="0" bIns="0" rtlCol="0">
            <a:spAutoFit/>
          </a:bodyPr>
          <a:lstStyle/>
          <a:p>
            <a:pPr marL="12700">
              <a:lnSpc>
                <a:spcPct val="100000"/>
              </a:lnSpc>
              <a:spcBef>
                <a:spcPts val="100"/>
              </a:spcBef>
            </a:pPr>
            <a:r>
              <a:rPr sz="4400">
                <a:solidFill>
                  <a:srgbClr val="205767"/>
                </a:solidFill>
                <a:latin typeface="Arial MT"/>
                <a:cs typeface="Arial MT"/>
              </a:rPr>
              <a:t>Thank</a:t>
            </a:r>
            <a:r>
              <a:rPr sz="4400" spc="135">
                <a:solidFill>
                  <a:srgbClr val="205767"/>
                </a:solidFill>
                <a:latin typeface="Arial MT"/>
                <a:cs typeface="Arial MT"/>
              </a:rPr>
              <a:t> </a:t>
            </a:r>
            <a:r>
              <a:rPr sz="4400" spc="-25">
                <a:solidFill>
                  <a:srgbClr val="205767"/>
                </a:solidFill>
                <a:latin typeface="Arial MT"/>
                <a:cs typeface="Arial MT"/>
              </a:rPr>
              <a:t>You</a:t>
            </a:r>
            <a:endParaRPr sz="4400">
              <a:latin typeface="Arial MT"/>
              <a:cs typeface="Arial MT"/>
            </a:endParaRPr>
          </a:p>
        </p:txBody>
      </p:sp>
      <p:pic>
        <p:nvPicPr>
          <p:cNvPr id="3" name="object 3"/>
          <p:cNvPicPr/>
          <p:nvPr/>
        </p:nvPicPr>
        <p:blipFill>
          <a:blip r:embed="rId2" cstate="print"/>
          <a:stretch>
            <a:fillRect/>
          </a:stretch>
        </p:blipFill>
        <p:spPr>
          <a:xfrm>
            <a:off x="10262882" y="154800"/>
            <a:ext cx="1755000" cy="205562"/>
          </a:xfrm>
          <a:prstGeom prst="rect">
            <a:avLst/>
          </a:prstGeom>
        </p:spPr>
      </p:pic>
      <p:sp>
        <p:nvSpPr>
          <p:cNvPr id="6" name="TextBox 5">
            <a:extLst>
              <a:ext uri="{FF2B5EF4-FFF2-40B4-BE49-F238E27FC236}">
                <a16:creationId xmlns:a16="http://schemas.microsoft.com/office/drawing/2014/main" id="{A31F42C2-B8CA-CFA8-9A53-DB6274367420}"/>
              </a:ext>
            </a:extLst>
          </p:cNvPr>
          <p:cNvSpPr txBox="1"/>
          <p:nvPr/>
        </p:nvSpPr>
        <p:spPr>
          <a:xfrm>
            <a:off x="2895600" y="1756732"/>
            <a:ext cx="6781800" cy="923330"/>
          </a:xfrm>
          <a:prstGeom prst="rect">
            <a:avLst/>
          </a:prstGeom>
          <a:noFill/>
        </p:spPr>
        <p:txBody>
          <a:bodyPr wrap="square" rtlCol="0">
            <a:spAutoFit/>
          </a:bodyPr>
          <a:lstStyle/>
          <a:p>
            <a:r>
              <a:rPr lang="en-IN" b="1"/>
              <a:t>             We appreciate your time and attention.</a:t>
            </a:r>
            <a:br>
              <a:rPr lang="en-IN"/>
            </a:br>
            <a:r>
              <a:rPr lang="en-IN" i="1"/>
              <a:t>Feel free to ask any questions or share your valuable feedback.</a:t>
            </a:r>
            <a:endParaRPr lang="en-IN"/>
          </a:p>
          <a:p>
            <a:endParaRPr lang="en-IN"/>
          </a:p>
        </p:txBody>
      </p:sp>
      <p:sp>
        <p:nvSpPr>
          <p:cNvPr id="7" name="TextBox 6">
            <a:extLst>
              <a:ext uri="{FF2B5EF4-FFF2-40B4-BE49-F238E27FC236}">
                <a16:creationId xmlns:a16="http://schemas.microsoft.com/office/drawing/2014/main" id="{E35A5B3A-14F2-61C9-4EB6-B721E3734220}"/>
              </a:ext>
            </a:extLst>
          </p:cNvPr>
          <p:cNvSpPr txBox="1"/>
          <p:nvPr/>
        </p:nvSpPr>
        <p:spPr>
          <a:xfrm>
            <a:off x="685800" y="3023777"/>
            <a:ext cx="5791200" cy="1477328"/>
          </a:xfrm>
          <a:prstGeom prst="rect">
            <a:avLst/>
          </a:prstGeom>
          <a:noFill/>
        </p:spPr>
        <p:txBody>
          <a:bodyPr wrap="square" rtlCol="0">
            <a:spAutoFit/>
          </a:bodyPr>
          <a:lstStyle/>
          <a:p>
            <a:r>
              <a:rPr lang="en-IN" b="1"/>
              <a:t>👥 Team Members</a:t>
            </a:r>
          </a:p>
          <a:p>
            <a:r>
              <a:rPr lang="en-IN" b="1"/>
              <a:t>Vaishnavi Jha</a:t>
            </a:r>
            <a:r>
              <a:rPr lang="en-IN"/>
              <a:t> – Front-end Developer</a:t>
            </a:r>
          </a:p>
          <a:p>
            <a:r>
              <a:rPr lang="en-IN" b="1"/>
              <a:t>Md Asif</a:t>
            </a:r>
            <a:r>
              <a:rPr lang="en-IN"/>
              <a:t> – ML model trend</a:t>
            </a:r>
          </a:p>
          <a:p>
            <a:r>
              <a:rPr lang="en-IN" b="1"/>
              <a:t>Md Imran</a:t>
            </a:r>
            <a:r>
              <a:rPr lang="en-IN"/>
              <a:t> – Backend Developer</a:t>
            </a:r>
          </a:p>
          <a:p>
            <a:r>
              <a:rPr lang="en-IN" b="1"/>
              <a:t>Shyamji Dwivedi</a:t>
            </a:r>
            <a:r>
              <a:rPr lang="en-IN"/>
              <a:t> – Data Collection&amp; documentation</a:t>
            </a:r>
          </a:p>
        </p:txBody>
      </p:sp>
      <p:sp>
        <p:nvSpPr>
          <p:cNvPr id="8" name="TextBox 7">
            <a:extLst>
              <a:ext uri="{FF2B5EF4-FFF2-40B4-BE49-F238E27FC236}">
                <a16:creationId xmlns:a16="http://schemas.microsoft.com/office/drawing/2014/main" id="{E81556A2-1153-D100-728B-8F195A472610}"/>
              </a:ext>
            </a:extLst>
          </p:cNvPr>
          <p:cNvSpPr txBox="1"/>
          <p:nvPr/>
        </p:nvSpPr>
        <p:spPr>
          <a:xfrm>
            <a:off x="7467600" y="3023777"/>
            <a:ext cx="3962400" cy="1477328"/>
          </a:xfrm>
          <a:prstGeom prst="rect">
            <a:avLst/>
          </a:prstGeom>
          <a:noFill/>
        </p:spPr>
        <p:txBody>
          <a:bodyPr wrap="square" rtlCol="0">
            <a:spAutoFit/>
          </a:bodyPr>
          <a:lstStyle/>
          <a:p>
            <a:r>
              <a:rPr lang="en-IN" b="1"/>
              <a:t>📧 Contact</a:t>
            </a:r>
          </a:p>
          <a:p>
            <a:r>
              <a:rPr lang="en-IN"/>
              <a:t>Email: </a:t>
            </a:r>
            <a:r>
              <a:rPr lang="en-IN">
                <a:hlinkClick r:id="rId3"/>
              </a:rPr>
              <a:t>vaishnavijha2627@gmail.com</a:t>
            </a:r>
            <a:endParaRPr lang="en-IN"/>
          </a:p>
          <a:p>
            <a:r>
              <a:rPr lang="en-IN" err="1"/>
              <a:t>GitHub:</a:t>
            </a:r>
            <a:r>
              <a:rPr lang="en-IN" err="1">
                <a:hlinkClick r:id="rId4"/>
              </a:rPr>
              <a:t>https</a:t>
            </a:r>
            <a:r>
              <a:rPr lang="en-IN">
                <a:hlinkClick r:id="rId4"/>
              </a:rPr>
              <a:t>://github.com/mdimran2211/FinSpark-hackathon-26</a:t>
            </a:r>
            <a:endParaRPr lang="en-IN"/>
          </a:p>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QuantumShield AI  </vt:lpstr>
      <vt:lpstr> The Challenge</vt:lpstr>
      <vt:lpstr>Pre-Requisite</vt:lpstr>
      <vt:lpstr>PowerPoint Presentation</vt:lpstr>
      <vt:lpstr>Supporting Functional Documents</vt:lpstr>
      <vt:lpstr>Key Differentiators </vt:lpstr>
      <vt:lpstr>Adoption Plan</vt:lpstr>
      <vt:lpstr>PowerPoint Presentation</vt:lpstr>
      <vt:lpstr>Business Potential and Relevance</vt:lpstr>
      <vt:lpstr>Uniqueness of Approach and Solution</vt:lpstr>
      <vt:lpstr>User Experience</vt:lpstr>
      <vt:lpstr>Scalability</vt:lpstr>
      <vt:lpstr>PowerPoint Presentation</vt:lpstr>
      <vt:lpstr>Security Considerations </vt:lpstr>
      <vt:lpstr>Architecture diagram &amp; Images</vt:lpstr>
      <vt:lpstr>Solution Screenshots &amp; video &amp; 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QuantumShield AI  </dc:title>
  <dc:creator>Avinash Rohit</dc:creator>
  <cp:lastModifiedBy>Shyamji Dwivedi</cp:lastModifiedBy>
  <cp:revision>1</cp:revision>
  <dcterms:created xsi:type="dcterms:W3CDTF">2026-07-11T13:08:06Z</dcterms:created>
  <dcterms:modified xsi:type="dcterms:W3CDTF">2026-07-16T12:51:35Z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2026-07-01T00:00:00Z</vt:filetime>
  </property>
  <property fmtid="{D5CDD505-2E9C-101B-9397-08002B2CF9AE}" pid="4" name="Creator">
    <vt:lpwstr>Impress</vt:lpwstr>
  </property>
  <property fmtid="{D5CDD505-2E9C-101B-9397-08002B2CF9AE}" pid="5" name="Producer">
    <vt:lpwstr>LibreOfficeDev 24.8.7.2.0 (AARCH64) / LibreOffice Community</vt:lpwstr>
  </property>
  <property fmtid="{D5CDD505-2E9C-101B-9397-08002B2CF9AE}" pid="6" name="LastSaved">
    <vt:filetime>2026-07-01T00:00:00Z</vt:filetime>
  </property>
</Properties>
</file>